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5143500" cx="9144000"/>
  <p:notesSz cx="6858000" cy="9144000"/>
  <p:embeddedFontLst>
    <p:embeddedFont>
      <p:font typeface="Montserrat SemiBold"/>
      <p:regular r:id="rId32"/>
      <p:bold r:id="rId33"/>
      <p:italic r:id="rId34"/>
      <p:boldItalic r:id="rId35"/>
    </p:embeddedFont>
    <p:embeddedFont>
      <p:font typeface="Montserrat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MontserratSemiBold-bold.fntdata"/><Relationship Id="rId10" Type="http://schemas.openxmlformats.org/officeDocument/2006/relationships/slide" Target="slides/slide6.xml"/><Relationship Id="rId32" Type="http://schemas.openxmlformats.org/officeDocument/2006/relationships/font" Target="fonts/MontserratSemiBold-regular.fntdata"/><Relationship Id="rId13" Type="http://schemas.openxmlformats.org/officeDocument/2006/relationships/slide" Target="slides/slide9.xml"/><Relationship Id="rId35" Type="http://schemas.openxmlformats.org/officeDocument/2006/relationships/font" Target="fonts/MontserratSemiBold-boldItalic.fntdata"/><Relationship Id="rId12" Type="http://schemas.openxmlformats.org/officeDocument/2006/relationships/slide" Target="slides/slide8.xml"/><Relationship Id="rId34" Type="http://schemas.openxmlformats.org/officeDocument/2006/relationships/font" Target="fonts/MontserratSemiBold-italic.fntdata"/><Relationship Id="rId15" Type="http://schemas.openxmlformats.org/officeDocument/2006/relationships/slide" Target="slides/slide11.xml"/><Relationship Id="rId37" Type="http://schemas.openxmlformats.org/officeDocument/2006/relationships/font" Target="fonts/Montserrat-bold.fntdata"/><Relationship Id="rId14" Type="http://schemas.openxmlformats.org/officeDocument/2006/relationships/slide" Target="slides/slide10.xml"/><Relationship Id="rId36" Type="http://schemas.openxmlformats.org/officeDocument/2006/relationships/font" Target="fonts/Montserrat-regular.fntdata"/><Relationship Id="rId17" Type="http://schemas.openxmlformats.org/officeDocument/2006/relationships/slide" Target="slides/slide13.xml"/><Relationship Id="rId39" Type="http://schemas.openxmlformats.org/officeDocument/2006/relationships/font" Target="fonts/Montserrat-boldItalic.fntdata"/><Relationship Id="rId16" Type="http://schemas.openxmlformats.org/officeDocument/2006/relationships/slide" Target="slides/slide12.xml"/><Relationship Id="rId38" Type="http://schemas.openxmlformats.org/officeDocument/2006/relationships/font" Target="fonts/Montserrat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169fd9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169fd9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4169fd9ce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4169fd9c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4169fd9c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4169fd9c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f0fcf051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f0fcf051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f0fcf051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f0fcf051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f0fcf051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f0fcf051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f0fcf051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f0fcf051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f0fcf051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f0fcf051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f0fcf051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f0fcf051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f0fcf051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f0fcf051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f0fcf051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f0fcf051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bd885535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bd885535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e9af7182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e9af7182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fc40806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fc40806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f0fcf051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f0fcf051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fc40806c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fc40806c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fc40806c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fc40806c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fc40806c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fc40806c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f0fcf051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f0fcf051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fc40806c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9fc40806c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fc40806c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9fc40806c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fc40806c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9fc40806c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fc40806c7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9fc40806c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fc40806c7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9fc40806c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4169fd9ce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64169fd9ce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64169fd9c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64169fd9c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4169fd9c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64169fd9c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12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hyperlink" Target="https://scikit-learn.or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79525" y="808775"/>
            <a:ext cx="5891100" cy="155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INTRODUCCIÓN A MACHINE LEARNING</a:t>
            </a:r>
            <a:endParaRPr sz="4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08875" y="2733275"/>
            <a:ext cx="181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Módulo 2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61" name="Google Shape;61;p14"/>
          <p:cNvSpPr txBox="1"/>
          <p:nvPr/>
        </p:nvSpPr>
        <p:spPr>
          <a:xfrm>
            <a:off x="465875" y="888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Clase pasada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65875" y="1112100"/>
            <a:ext cx="65964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Predicción de datos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Entrenamiento y validación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Generalización, subajuste y sobreajuste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Procesamiento de Datasets (Colab)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Pandas, Matplotlib y Seaborn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Imputación de variables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3" name="Google Shape;63;p14"/>
          <p:cNvGrpSpPr/>
          <p:nvPr/>
        </p:nvGrpSpPr>
        <p:grpSpPr>
          <a:xfrm>
            <a:off x="6896420" y="2474909"/>
            <a:ext cx="2015575" cy="1836461"/>
            <a:chOff x="4728520" y="3080901"/>
            <a:chExt cx="2015575" cy="1836461"/>
          </a:xfrm>
        </p:grpSpPr>
        <p:pic>
          <p:nvPicPr>
            <p:cNvPr id="64" name="Google Shape;64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28520" y="3080901"/>
              <a:ext cx="2015575" cy="815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802404" y="3845645"/>
              <a:ext cx="1867833" cy="4482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1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856062" y="4412462"/>
              <a:ext cx="1760500" cy="504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7" name="Google Shape;67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86113" y="832137"/>
            <a:ext cx="1636198" cy="100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86125" y="1896220"/>
            <a:ext cx="1636176" cy="631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/>
        </p:nvSpPr>
        <p:spPr>
          <a:xfrm>
            <a:off x="660525" y="813100"/>
            <a:ext cx="7143900" cy="16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Unidad 1</a:t>
            </a:r>
            <a:endParaRPr sz="3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REGRESIÓN LINEAL</a:t>
            </a:r>
            <a:endParaRPr sz="3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SIMPLE Y MÚLTIPLE</a:t>
            </a:r>
            <a:endParaRPr sz="3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ctrTitle"/>
          </p:nvPr>
        </p:nvSpPr>
        <p:spPr>
          <a:xfrm>
            <a:off x="308875" y="535875"/>
            <a:ext cx="6609000" cy="155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SCIKIT</a:t>
            </a:r>
            <a:r>
              <a:rPr lang="es-419" sz="3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-</a:t>
            </a:r>
            <a:r>
              <a:rPr lang="es-419" sz="3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LEARN</a:t>
            </a:r>
            <a:endParaRPr sz="3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84" name="Google Shape;84;p17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Librería </a:t>
            </a:r>
            <a:r>
              <a:rPr lang="es-419" sz="3500" u="sng">
                <a:solidFill>
                  <a:schemeClr val="hlink"/>
                </a:solidFill>
                <a:latin typeface="Montserrat SemiBold"/>
                <a:ea typeface="Montserrat SemiBold"/>
                <a:cs typeface="Montserrat SemiBold"/>
                <a:sym typeface="Montserrat SemiBold"/>
                <a:hlinkClick r:id="rId4"/>
              </a:rPr>
              <a:t>Scikit-Learn</a:t>
            </a: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(Sklearn)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65875" y="734272"/>
            <a:ext cx="7470300" cy="42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es?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una de las librerías de Machine Learning más importantes y utilizadas en la industria.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una biblioteca de aprendizaje automático gratuita y de código abierto.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arantiza eficiencia y una excelente integración con el ecosistema de herramientas de Python.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ampliamente documentada, robusta y fácil de usar para investigación y producción, convirtiéndola en una de las bibliotecas estándar para ML en Python.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91" name="Google Shape;91;p18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Librería Scikit-Learn (Sklearn)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465875" y="734272"/>
            <a:ext cx="7470300" cy="42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Algoritmos: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Proporciona una amplia gama de algoritmos listos para usar de: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Clasificación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Regresión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Agrupamiento (Clustering)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Ejemplos: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Incluye Vectores de Soporte (SVM), Random Forest, Gradient Boosting, K-Means, DBSCAN, etc.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Integración: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Diseñada para interactuar con las bibliotecas de Python: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NumPy: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Utiliza sus arrays para operaciones de álgebra lineal de alto rendimiento.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Acepta DataFrames directamente como entrada para entrenar los modelos.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SciPy: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 apoya en sus funciones científicas.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98" name="Google Shape;98;p19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Sklearn Clasificación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465875" y="734272"/>
            <a:ext cx="74703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Objetivo: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Identificar a qué categoría pertenece un objeto o variable.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Tipo de Problema: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Responde preguntas de "¿Qué tipo es?" o "¿Pertenece a este grupo?".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 simple: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Predecir si un correo electrónico es spam o no spam.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Aplicaciones: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Detección de spam, reconocimiento de imágenes, diagnóstico médico, etc.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Algoritmos: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SVM (Support Vector Machine), Árboles de decisión, Random Forest.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0" name="Google Shape;100;p19"/>
          <p:cNvPicPr preferRelativeResize="0"/>
          <p:nvPr/>
        </p:nvPicPr>
        <p:blipFill rotWithShape="1">
          <a:blip r:embed="rId4">
            <a:alphaModFix/>
          </a:blip>
          <a:srcRect b="64981" l="0" r="0" t="0"/>
          <a:stretch/>
        </p:blipFill>
        <p:spPr>
          <a:xfrm>
            <a:off x="1600250" y="3818650"/>
            <a:ext cx="5745102" cy="1216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0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06" name="Google Shape;106;p20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Sklearn </a:t>
            </a: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Regresión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465875" y="734272"/>
            <a:ext cx="74703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Objetivo: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Predecir un atributo de valor continuo asociado con un objeto.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Tipo de Problema: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Responde preguntas de "¿Cuánto?" o "¿Cuál será el valor?".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 simple: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Estimar el precio de una casa basado en su tamaño en m².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Aplicaciones: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Predicción de precios de acciones, estimar el consumo de electricidad, pronóstico del tiempo, tiempo de entrega de un paquete, etc.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Algoritmos: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Regresión Lineal, SVR (Support Vector Regression), Random Forest.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8" name="Google Shape;108;p20"/>
          <p:cNvPicPr preferRelativeResize="0"/>
          <p:nvPr/>
        </p:nvPicPr>
        <p:blipFill rotWithShape="1">
          <a:blip r:embed="rId4">
            <a:alphaModFix/>
          </a:blip>
          <a:srcRect b="0" l="0" r="8817" t="5838"/>
          <a:stretch/>
        </p:blipFill>
        <p:spPr>
          <a:xfrm>
            <a:off x="3571838" y="3527525"/>
            <a:ext cx="2000326" cy="1551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1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14" name="Google Shape;114;p21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Sklearn</a:t>
            </a: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Clustering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465875" y="734272"/>
            <a:ext cx="74703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Objetivo: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Agrupación automática de objetos similares en conjuntos (clústeres).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Tipo de Problema: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Aprendizaje No Supervisado. A diferencia de la clasificación, aquí no sabemos las categorías de antemano, el modelo las descubre por sí mismo.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 simple: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Encontrar grupos naturales de compradores en un supermercado según sus hábitos de compra.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Aplicaciones: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Segmentación de clientes, agrupación de resultados de experimentos, etc.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Algoritmos: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K-Means, Agrupamiento Espectral, DBSCAN.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4">
            <a:alphaModFix/>
          </a:blip>
          <a:srcRect b="0" l="6596" r="7845" t="3147"/>
          <a:stretch/>
        </p:blipFill>
        <p:spPr>
          <a:xfrm>
            <a:off x="3391975" y="3720475"/>
            <a:ext cx="2326001" cy="13384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2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22" name="Google Shape;122;p22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Sklearn Reducción de Dimensionalidad</a:t>
            </a:r>
            <a:endParaRPr sz="27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465875" y="734272"/>
            <a:ext cx="74703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Objetivo: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Reducir el número de variables (features o columnas) a considerar.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¿Por qué?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útil cuando tenemos cientos o miles de features. Simplifica el modelo, acelera el entrenamiento y reduce el costo computacional.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 simple: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Reducir 100 preguntas de una encuesta a 5 "temas" o "dimensiones" principales.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Aplicaciones: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Visualización de datos complejos, aumento de la eficiencia computacional.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Algoritmos: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PCA (Análisis de Componentes Principales), Selección de características.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4" name="Google Shape;124;p22"/>
          <p:cNvPicPr preferRelativeResize="0"/>
          <p:nvPr/>
        </p:nvPicPr>
        <p:blipFill rotWithShape="1">
          <a:blip r:embed="rId4">
            <a:alphaModFix/>
          </a:blip>
          <a:srcRect b="4312" l="7639" r="8957" t="6410"/>
          <a:stretch/>
        </p:blipFill>
        <p:spPr>
          <a:xfrm>
            <a:off x="3562625" y="3468800"/>
            <a:ext cx="2018750" cy="16135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3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30" name="Google Shape;130;p23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Sklearn Reducción de Dimensionalidad</a:t>
            </a:r>
            <a:endParaRPr sz="27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1" name="Google Shape;131;p23"/>
          <p:cNvSpPr txBox="1"/>
          <p:nvPr/>
        </p:nvSpPr>
        <p:spPr>
          <a:xfrm>
            <a:off x="465875" y="734272"/>
            <a:ext cx="74703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Objetivo: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Reducir el número de variables (features o columnas) a considerar.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¿Por qué?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útil cuando tenemos cientos o miles de features. Simplifica el modelo, acelera el entrenamiento y reduce el costo computacional.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 simple: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Reducir 100 preguntas de una encuesta a 5 "temas" o "dimensiones" principales.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Aplicaciones: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Visualización de datos complejos, aumento de la eficiencia computacional.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Algoritmos: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PCA (Análisis de Componentes Principales), Selección de características.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" name="Google Shape;132;p23"/>
          <p:cNvPicPr preferRelativeResize="0"/>
          <p:nvPr/>
        </p:nvPicPr>
        <p:blipFill rotWithShape="1">
          <a:blip r:embed="rId4">
            <a:alphaModFix/>
          </a:blip>
          <a:srcRect b="4312" l="7639" r="8957" t="6410"/>
          <a:stretch/>
        </p:blipFill>
        <p:spPr>
          <a:xfrm>
            <a:off x="3562625" y="3468800"/>
            <a:ext cx="2018750" cy="16135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ctrTitle"/>
          </p:nvPr>
        </p:nvSpPr>
        <p:spPr>
          <a:xfrm>
            <a:off x="308875" y="535875"/>
            <a:ext cx="6609000" cy="155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REGRESIÓN LINEAL</a:t>
            </a:r>
            <a:endParaRPr sz="3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5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43" name="Google Shape;143;p25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Regresión Lineal Simple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4" name="Google Shape;144;p25"/>
          <p:cNvSpPr txBox="1"/>
          <p:nvPr/>
        </p:nvSpPr>
        <p:spPr>
          <a:xfrm>
            <a:off x="465875" y="855700"/>
            <a:ext cx="74703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Imaginemos que queremos predecir el precio de una casa basándonos solo en su tamaño.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Tenemos un historial, nuestros "apuntes" del mercado: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Propiedad 1: 50 m² --- $100.000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Propiedad 2: 70 m² --- $150.000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Propiedad 3: 100 m² --- $210.000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 ponemos esto en un gráfico (</a:t>
            </a: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Tamaño vs. Precio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), tendríamos unos puntos sueltos.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 gran pregunta: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¿Cuánto debería costar una casa nueva de 80 m²?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6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50" name="Google Shape;150;p26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Regresión Lineal Simple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465875" y="855700"/>
            <a:ext cx="55476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es?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un método estadístico y un algoritmo de aprendizaje supervisado.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Objetivo: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Modelar la relación entre una variable independiente (X, por ejemplo: metros cuadrados) y una variable dependiente continua (Y, por ejemplo precio de casas).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Meta: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Encontrar la línea recta que mejor describe o se ajusta a la tendencia de un conjunto de puntos de datos.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3604" y="1602888"/>
            <a:ext cx="3095526" cy="19377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7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58" name="Google Shape;158;p27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1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 Ecuación de la Recta Y = mX + b</a:t>
            </a:r>
            <a:endParaRPr sz="31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9" name="Google Shape;159;p27"/>
          <p:cNvSpPr txBox="1"/>
          <p:nvPr/>
        </p:nvSpPr>
        <p:spPr>
          <a:xfrm>
            <a:off x="465875" y="855700"/>
            <a:ext cx="74703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Matemáticamente, el modelo de regresión lineal simple sigue la fórmula de la recta: </a:t>
            </a: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 = mX + b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Componentes: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lo que queremos adivinar (El precio de la casa).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la pista que tenemos (El tamaño de la casa en m²).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modelo consiste en encontrar los dos números “secretos”: m y b.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8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65" name="Google Shape;165;p28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1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 Ecuación de la Recta Y = mX + b</a:t>
            </a:r>
            <a:endParaRPr sz="27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465875" y="855700"/>
            <a:ext cx="74703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Parámetro 'b' - El Intercepto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es 'b'?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Es el "punto de partida", intercepto u ordenada de origen.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Técnicamente: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Es el valor de Y (Precio) cuando X (Tamaño) es igual a 0.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 contexto: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Sería el "precio base" teórico de una propiedad de 0 m².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 b = $30.000, nuestra línea arranca en $30.000 en el eje vertical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7" name="Google Shape;16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3363" y="3363937"/>
            <a:ext cx="2337276" cy="172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9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73" name="Google Shape;173;p29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1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 Ecuación de la Recta Y = mX + b</a:t>
            </a:r>
            <a:endParaRPr sz="31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4" name="Google Shape;174;p29"/>
          <p:cNvSpPr txBox="1"/>
          <p:nvPr/>
        </p:nvSpPr>
        <p:spPr>
          <a:xfrm>
            <a:off x="465875" y="855700"/>
            <a:ext cx="74703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Parámetro 'm' - La Pendiente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es 'm'?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Esta es la pendiente. ¡Es la pieza clave!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Técnicamente: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Nos dice cuánto cambia Y por cada unidad que aumenta X.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 contexto: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Nos dice cuánto aumenta el precio por cada metro cuadrado adicional.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 el modelo "aprende" que m = $1.800, significa que cada m² extra de superficie se asocia con un aumento de $1.800 en el precio.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0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80" name="Google Shape;180;p30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1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 Ecuación de la Recta Y = mX + b</a:t>
            </a:r>
            <a:endParaRPr sz="31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1" name="Google Shape;181;p30"/>
          <p:cNvSpPr txBox="1"/>
          <p:nvPr/>
        </p:nvSpPr>
        <p:spPr>
          <a:xfrm>
            <a:off x="465875" y="855700"/>
            <a:ext cx="74703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modelo trabajó y brindó valores óptimos: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(pendiente) = 1.800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(intercepto) = 30.000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Nuestra ecuación de predicción ahora es: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Precio = (1.800 * Tamaño) + 30.000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Volvemos a la pregunta original: ¿Cuánto por una casa de 80 m²?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Sustituimos la X (Tamaño) por 80: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= (1.800 * 80) + 30.000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= $174.000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modelo predice que una casa de 80 m² costará $174.000.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1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87" name="Google Shape;187;p31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Regresión Simple vs. Múltiple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8" name="Google Shape;188;p31"/>
          <p:cNvSpPr txBox="1"/>
          <p:nvPr/>
        </p:nvSpPr>
        <p:spPr>
          <a:xfrm>
            <a:off x="465875" y="855700"/>
            <a:ext cx="55476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Regresión Lineal Simple: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Modela la relación usando una sola variable independiente (X).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Predecir Salario (Y) usando solo Años de Experiencia (X).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Regresión Lineal Múltiple: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Modela la relación usando más de una variable independiente (X1, X2, X3...).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Predecir Salario (Y) usando Años de Experiencia (X1) + Nivel de Educación (X2).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9" name="Google Shape;189;p31"/>
          <p:cNvPicPr preferRelativeResize="0"/>
          <p:nvPr/>
        </p:nvPicPr>
        <p:blipFill rotWithShape="1">
          <a:blip r:embed="rId4">
            <a:alphaModFix/>
          </a:blip>
          <a:srcRect b="0" l="14572" r="14202" t="8003"/>
          <a:stretch/>
        </p:blipFill>
        <p:spPr>
          <a:xfrm>
            <a:off x="6739250" y="2810477"/>
            <a:ext cx="2068500" cy="21161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90" name="Google Shape;190;p31"/>
          <p:cNvPicPr preferRelativeResize="0"/>
          <p:nvPr/>
        </p:nvPicPr>
        <p:blipFill rotWithShape="1">
          <a:blip r:embed="rId5">
            <a:alphaModFix/>
          </a:blip>
          <a:srcRect b="4871" l="5365" r="0" t="12271"/>
          <a:stretch/>
        </p:blipFill>
        <p:spPr>
          <a:xfrm>
            <a:off x="6739250" y="1045287"/>
            <a:ext cx="2068500" cy="163776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2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96" name="Google Shape;196;p32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Regresión Múltiple</a:t>
            </a:r>
            <a:endParaRPr sz="31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7" name="Google Shape;197;p32"/>
          <p:cNvSpPr txBox="1"/>
          <p:nvPr/>
        </p:nvSpPr>
        <p:spPr>
          <a:xfrm>
            <a:off x="465875" y="855700"/>
            <a:ext cx="62472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 la vida real el precio de una casa no depende solo del tamaño.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También importa: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número de habitaciones (X2)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 antigüedad de la casa (X3)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 distancia al centro (X4)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Cuando empezamos a usar varias "pistas" (X) a la vez, entramos en el mundo de la Regresión Lineal Múltiple.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8" name="Google Shape;198;p32"/>
          <p:cNvPicPr preferRelativeResize="0"/>
          <p:nvPr/>
        </p:nvPicPr>
        <p:blipFill rotWithShape="1">
          <a:blip r:embed="rId4">
            <a:alphaModFix/>
          </a:blip>
          <a:srcRect b="11705" l="11112" r="12299" t="12086"/>
          <a:stretch/>
        </p:blipFill>
        <p:spPr>
          <a:xfrm>
            <a:off x="6712975" y="1351675"/>
            <a:ext cx="2323124" cy="2311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3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04" name="Google Shape;204;p33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Regresión Múltiple</a:t>
            </a:r>
            <a:endParaRPr sz="31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5" name="Google Shape;205;p33"/>
          <p:cNvSpPr txBox="1"/>
          <p:nvPr/>
        </p:nvSpPr>
        <p:spPr>
          <a:xfrm>
            <a:off x="465875" y="855700"/>
            <a:ext cx="74703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Objetivo: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Sigue siendo predecir Y (el precio).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Método: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 lugar de usar una X, usamos un conjunto de ellas (X1, X2, X3...).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 fórmula se extiende de forma lógica: </a:t>
            </a:r>
            <a:r>
              <a:rPr i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 = b0 + b1*X1 + b2*X2 + b3*X3 + …</a:t>
            </a:r>
            <a:endParaRPr i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b0: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Sigue siendo el "intercepto" u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ordenada de origen.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Es el valor de Y si todas las X fueran 0 (ej. el precio base de una casa con 0m², 0 habitaciones y 0 antigüedad).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b1, b2, b3...: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Estos son los "pesos" o "coeficientes".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Interpretando los coeficientes (b1, b2...):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Cada b nos dice el impacto de una variable, mientras todas las demás se quedan quietas.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4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11" name="Google Shape;211;p34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Regresión Múltiple</a:t>
            </a:r>
            <a:endParaRPr sz="31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2" name="Google Shape;212;p34"/>
          <p:cNvSpPr txBox="1"/>
          <p:nvPr/>
        </p:nvSpPr>
        <p:spPr>
          <a:xfrm>
            <a:off x="465875" y="855700"/>
            <a:ext cx="74703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Ya no es una línea, es un plano: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 una X (Y = mX + b), dibujamos 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una línea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en un 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gráfico 2D.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 dos X (Y = b0 + b1*X1 + b2*X2), necesitamos un 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gráfico 3D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 El modelo ya 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 es una línea, es un plano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que intenta "tapar" la nube de puntos.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 más de dos X, 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 podemos dibujarlo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pero los matemáticos lo llaman "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hiperplano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". Es la misma idea, pero en más dimensiones.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3" name="Google Shape;213;p34"/>
          <p:cNvPicPr preferRelativeResize="0"/>
          <p:nvPr/>
        </p:nvPicPr>
        <p:blipFill rotWithShape="1">
          <a:blip r:embed="rId4">
            <a:alphaModFix/>
          </a:blip>
          <a:srcRect b="10651" l="0" r="8466" t="11430"/>
          <a:stretch/>
        </p:blipFill>
        <p:spPr>
          <a:xfrm>
            <a:off x="2680088" y="3410800"/>
            <a:ext cx="3783823" cy="1601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35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19" name="Google Shape;219;p35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Regresión Múltiple</a:t>
            </a:r>
            <a:endParaRPr sz="31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0" name="Google Shape;220;p35"/>
          <p:cNvSpPr txBox="1"/>
          <p:nvPr/>
        </p:nvSpPr>
        <p:spPr>
          <a:xfrm>
            <a:off x="465875" y="855700"/>
            <a:ext cx="74703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 Multicolinealidad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Esta es una de las condiciones más importantes y un error súper común.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es?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Las X no deben decir lo mismo. Deben ser independientes.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Ejemplos de Multicolinealidad: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“Altura en cm" y "altura en pulgadas".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"Tamaño de la casa en m²" y "número de habitaciones" (una casa más grande suele tener más habitaciones).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t/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6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26" name="Google Shape;226;p36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Regresión Múltiple</a:t>
            </a:r>
            <a:endParaRPr sz="31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7" name="Google Shape;227;p36"/>
          <p:cNvSpPr txBox="1"/>
          <p:nvPr/>
        </p:nvSpPr>
        <p:spPr>
          <a:xfrm>
            <a:off x="465875" y="855700"/>
            <a:ext cx="74703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Además de evitar la multicolinealidad, hay otras reglas: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Parsimonia: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Principio: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"El mejor modelo es el modelo MÁS SIMPLE que explique bien el problema". Usar el menor número de X posible para lograr una buena predicción.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Relación Lineal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Principio: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modelo asume que la relación entre cada X y la Y es, más o menos, una línea. Se pueden "transformar" las variables (ej. usar X al cuadrado) para capturar curvas, pero el modelo base asume linealidad.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7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33" name="Google Shape;233;p37"/>
          <p:cNvSpPr txBox="1"/>
          <p:nvPr>
            <p:ph type="ctrTitle"/>
          </p:nvPr>
        </p:nvSpPr>
        <p:spPr>
          <a:xfrm>
            <a:off x="465875" y="6084"/>
            <a:ext cx="83217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Resumen de la clase</a:t>
            </a:r>
            <a:endParaRPr sz="30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4" name="Google Shape;234;p37"/>
          <p:cNvSpPr txBox="1"/>
          <p:nvPr/>
        </p:nvSpPr>
        <p:spPr>
          <a:xfrm>
            <a:off x="465875" y="1112100"/>
            <a:ext cx="65964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Librería Scikit Learn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Sklearn Clasificación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Sklearn Regresión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Sklearn Clustering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Sklearn Reducción de dimensionalidad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Regresión Lineal Simple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Regresión Lineal Múltiple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8"/>
          <p:cNvSpPr txBox="1"/>
          <p:nvPr>
            <p:ph type="ctrTitle"/>
          </p:nvPr>
        </p:nvSpPr>
        <p:spPr>
          <a:xfrm>
            <a:off x="660525" y="508300"/>
            <a:ext cx="7963800" cy="162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¿Consultas?</a:t>
            </a:r>
            <a:endParaRPr sz="34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 txBox="1"/>
          <p:nvPr>
            <p:ph type="ctrTitle"/>
          </p:nvPr>
        </p:nvSpPr>
        <p:spPr>
          <a:xfrm>
            <a:off x="660525" y="508300"/>
            <a:ext cx="7963800" cy="162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¡Muchas gracias!</a:t>
            </a:r>
            <a:endParaRPr sz="34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