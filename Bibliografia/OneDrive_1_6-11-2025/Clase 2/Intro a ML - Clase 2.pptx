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5143500" cx="9144000"/>
  <p:notesSz cx="6858000" cy="9144000"/>
  <p:embeddedFontLst>
    <p:embeddedFont>
      <p:font typeface="Montserrat SemiBold"/>
      <p:regular r:id="rId35"/>
      <p:bold r:id="rId36"/>
      <p:italic r:id="rId37"/>
      <p:boldItalic r:id="rId38"/>
    </p:embeddedFont>
    <p:embeddedFont>
      <p:font typeface="Montserra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6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MontserratSemiBold-regular.fnt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MontserratSemiBold-italic.fntdata"/><Relationship Id="rId14" Type="http://schemas.openxmlformats.org/officeDocument/2006/relationships/slide" Target="slides/slide10.xml"/><Relationship Id="rId36" Type="http://schemas.openxmlformats.org/officeDocument/2006/relationships/font" Target="fonts/MontserratSemiBold-bold.fntdata"/><Relationship Id="rId17" Type="http://schemas.openxmlformats.org/officeDocument/2006/relationships/slide" Target="slides/slide13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38" Type="http://schemas.openxmlformats.org/officeDocument/2006/relationships/font" Target="fonts/MontserratSemiBold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169fd9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169fd9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4169fd9c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4169fd9c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4169fd9c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4169fd9c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4169fd9c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4169fd9c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cf449fb4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cf449fb4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cf449fb4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cf449fb4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cf4e7f0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cf4e7f0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cf4e7f00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cf4e7f0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cf4e7f00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cf4e7f00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bd885535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bd885535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e9af7182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e9af7182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e9af7182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e9af7182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e9af7182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e9af7182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e9af7182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e9af7182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4169fd9c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4169fd9c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cfa4feba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cfa4feba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cfa4feba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cfa4feba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cfa4feba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cfa4feba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cfa4feba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cfa4feba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fa4feba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cfa4feba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cfa4feba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6cfa4feba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e9af7182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e9af718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cfa4feba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cfa4feba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e9af7182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9e9af7182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bd885535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bd885535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e9af7182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e9af7182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e9af7182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9e9af7182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4169fd9c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64169fd9c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4169fd9c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64169fd9c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4169fd9c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4169fd9c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hyperlink" Target="https://www.kaggle.com/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Relationship Id="rId6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79525" y="808775"/>
            <a:ext cx="5891100" cy="155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INTRODUCCIÓN A MACHINE LEARNING</a:t>
            </a:r>
            <a:endParaRPr sz="4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08875" y="2733275"/>
            <a:ext cx="181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 1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61" name="Google Shape;61;p14"/>
          <p:cNvSpPr txBox="1"/>
          <p:nvPr/>
        </p:nvSpPr>
        <p:spPr>
          <a:xfrm>
            <a:off x="465875" y="888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Clase pasada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5875" y="1112100"/>
            <a:ext cx="6596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 Machine Learning?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Historia de la IA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Ejemplos de aplicación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Aprendizaje supervisado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Aprendizaje no supervisado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Comparación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1575" y="719125"/>
            <a:ext cx="2931625" cy="14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1575" y="2173200"/>
            <a:ext cx="2931625" cy="1526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1575" y="3739324"/>
            <a:ext cx="2931625" cy="1311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660525" y="813100"/>
            <a:ext cx="71439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Unidad 2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PREPARANDO DATOS</a:t>
            </a:r>
            <a:endParaRPr sz="3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PARA SU ANÁLISIS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76" name="Google Shape;76;p16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Predicción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65875" y="734272"/>
            <a:ext cx="74703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 el Análisis Predictivo?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el proceso de usar datos históricos y actuales para descubrir patrones y pronosticar tendencias y resultados futuros.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solo describe qué pasó, sino que busca responder: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 probable que suceda?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¿Cómo funciona?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Base: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Recolección y preparación de Datos (la materia prima).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Modelos de Machine Learning (ML).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Resultado: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 entrena un "Modelo Predictivo" que aprende de los patrones pasados.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Acción: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Este modelo asigna probabilidades (o scores) a eventos futuros (ej. "Este cliente tiene un 90% de probabilidad de abandonar").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83" name="Google Shape;83;p1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Predicción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65875" y="1145186"/>
            <a:ext cx="74703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Contexto e importancia estratégica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Era del Big Data: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Esencial para extraer valor real de Grandes volúmenes de información.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Pilar de la cultura Data-Driven: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el motor que permite a las organizaciones pasar de la "intuición" a la toma de decisiones basada en evidencia.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Impacto: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Permite optimizar operaciones, personalizar la experiencia del cliente, mitigar riesgos, etc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90" name="Google Shape;90;p1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Dataset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465875" y="847628"/>
            <a:ext cx="74703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Conjunto de datos (dataset):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la materia prima y el activo más importante del Machine Learning.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el histórico de datos (observaciones) usado para entrenar al sistema que detecta patrones.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calidad y cantidad de los datos impactará directamente en el rendimiento del modelo.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Composición Típica: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Instancias (Filas):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Cada fila es una observación individual (ej. un cliente, un paciente, una venta).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 (Features / Columnas):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Son las propiedades o factores de cada instancia (ej. edad, ingresos, etc).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Variable Objetivo (Target):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Es la columna que queremos predecir (ej. 'comprará', 'tiene diabetes'). 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97" name="Google Shape;97;p19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Entrenamiento y Validación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65875" y="847628"/>
            <a:ext cx="74703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Pregunta clave: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¿Cómo sabemos si el modelo está aprendiendo bien o solo "memorizando"?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Solución: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Nunca evaluamos el modelo con los mismos datos que usó para aprender.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Analogía: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como un estudiante que se aprende un examen de memoria (entrenamiento) vs. un estudiante que aprende los conceptos y puede resolver un examen nuevo (validación).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División de datos (ej. 100.000 datos):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Muestra de Entrenamiento (Training Set):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"mayoría" de los datos. Se usa para construir y entrenar el modelo (el "examen de práctica").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Muestra de Validación (Validation Set):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Una porción de datos "guardada". Se usa para ajustar y validar el modelo mientras se entrena (el "examen sorpresa" para ver si entendió).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04" name="Google Shape;104;p20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Entrenamiento y Validación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465875" y="847628"/>
            <a:ext cx="74703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Punto crítico: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división debe ser aleatoria (random). Si no es aleatoria (ej. tomamos los primeros 70.000), podríamos introducir un sesgo (ej. todos los clientes antiguos) y el modelo no aprenderá bien.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Proporciones comunes: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70%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Entrenamiento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/ 30%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 estándar simple.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80%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Entrenamiento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/ 20%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Muy común.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Ampliación (División en 3 partes):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un escenario más profesional, a menudo se divide en tres: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Entrenamiento (ej. 60-70%):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entrenar el modelo.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Validación (ej. 15-20%):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ajustar los parámetros del modelo y compararlo con otros.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 (ej. 15-20%):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 guarda hasta el final. Se usa una sola vez para dar la métrica final de rendimiento del modelo elegido.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11" name="Google Shape;111;p21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 Objetivo: La Generalización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465875" y="847628"/>
            <a:ext cx="74703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¿Por qué dividir los datos?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testear el aprendizaje del algoritmo y asegurar que puede generalizar.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Generalización: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la capacidad del modelo de hacer predicciones correctas sobre datos nuevos que nunca ha visto.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el objetivo principal del Machine Learning.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Proceso: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Entrenamos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(enseñamos patrones) con la muestra de entrenamiento.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Validamos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(ponemos a prueba) con la muestra de validación.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Resultado exitoso: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el rendimiento (ej. precisión) es similar en ambas muestras, el modelo está generalizando correctamente.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 EQUILIBRIO: SUBAJUSTE VS. SOBREAJUSTE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23" name="Google Shape;123;p23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Subajuste vs. Sobreajuste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465875" y="847628"/>
            <a:ext cx="74703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 Principal: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Encontrar un equilibrio. El objetivo del ML es crear un modelo que generalice bien a datos nuevos.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Esto implica evitar dos problemas comunes: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Subajuste (Underfitting):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es demasiado simple.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Sobreajuste (Overfitting):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es demasiado complejo.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Son dos extremos opuestos del mismo problema: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encontrar el nivel de complejidad adecuado para el modelo.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898" y="3813275"/>
            <a:ext cx="3836201" cy="1266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31" name="Google Shape;131;p24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Subajuste (Underfitting)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2" name="Google Shape;132;p24"/>
          <p:cNvSpPr txBox="1"/>
          <p:nvPr/>
        </p:nvSpPr>
        <p:spPr>
          <a:xfrm>
            <a:off x="465875" y="847628"/>
            <a:ext cx="7470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es?: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cuando el modelo es demasiado simple para capturar la estructura o los patrones de los datos.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Analogía: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como un estudiante que "no estudió lo suficiente" para el examen. No entiende ni los conceptos básicos.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Consecuencia: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tiene un mal rendimiento (error alto) tanto en los datos de entrenamiento como en los de validación. El modelo no aprende.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Causas Comunes: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elegido es muy simple (ej. usar un modelo lineal para datos muy complejos).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Faltan features (características) importantes para la predicción.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38" name="Google Shape;138;p25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Sobreajuste (Overfitting)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65875" y="847628"/>
            <a:ext cx="74703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es?: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cuando el modelo aprende "demasiado" bien los datos de entrenamiento. 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Analogía: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como un estudiante que "aprendió el examen de memoria" pero no entendió el "concepto" (generalización). Falla en un nuevo examen.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Consecuencia: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tiene un rendimiento excelente (error bajo) en los datos de entrenamiento, pero un rendimiento pésimo (error alto) al predecir datos nuevos.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Causas Comunes: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es demasiado complejo para la cantidad de datos (ej. un árbol de decisión muy profundo).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"Memorizó" datos anómalos o ruido del set de entrenamiento.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Poca cantidad de datos de entrenamiento (es más fácil memorizar un set pequeño).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PREPROCESAMIENTO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 DATASETS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50" name="Google Shape;150;p27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Preprocesamiento de Datasets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465875" y="1031830"/>
            <a:ext cx="7470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Caso de Estudio: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Usaremos un dataset de diabetes de </a:t>
            </a:r>
            <a:r>
              <a:rPr lang="es-419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Kaggle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Entender los pasos para "limpiar" y preparar los datos antes de crear un modelo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Colab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4898" y="3627375"/>
            <a:ext cx="2988949" cy="11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2251" y="3334912"/>
            <a:ext cx="2822651" cy="1739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59" name="Google Shape;159;p28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Preprocesamiento de Datasets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0" name="Google Shape;160;p28"/>
          <p:cNvSpPr txBox="1"/>
          <p:nvPr/>
        </p:nvSpPr>
        <p:spPr>
          <a:xfrm>
            <a:off x="465875" y="1031830"/>
            <a:ext cx="74703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Instalación de librerías clásicas para manipulación de datos: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manipulación y análisis de datos (DataFrames)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visualización de datos (gráficos)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Seaborn: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visualización de datos (gráficos)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1" name="Google Shape;161;p28"/>
          <p:cNvGrpSpPr/>
          <p:nvPr/>
        </p:nvGrpSpPr>
        <p:grpSpPr>
          <a:xfrm>
            <a:off x="4714345" y="3052072"/>
            <a:ext cx="2015575" cy="1836461"/>
            <a:chOff x="4728520" y="3080901"/>
            <a:chExt cx="2015575" cy="1836461"/>
          </a:xfrm>
        </p:grpSpPr>
        <p:pic>
          <p:nvPicPr>
            <p:cNvPr id="162" name="Google Shape;16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8520" y="3080901"/>
              <a:ext cx="2015575" cy="81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02404" y="3845645"/>
              <a:ext cx="1867833" cy="4482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56062" y="4412462"/>
              <a:ext cx="1760500" cy="504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5" name="Google Shape;16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99550" y="3188410"/>
            <a:ext cx="2687050" cy="160629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71" name="Google Shape;171;p29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Preprocesamiento de Datasets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465875" y="1031830"/>
            <a:ext cx="74703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Carga y Visualización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Librería: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Método de lectura: </a:t>
            </a:r>
            <a:r>
              <a:rPr lang="es-419" sz="1600">
                <a:solidFill>
                  <a:srgbClr val="434343"/>
                </a:solidFill>
                <a:highlight>
                  <a:srgbClr val="999999"/>
                </a:highlight>
                <a:latin typeface="Montserrat"/>
                <a:ea typeface="Montserrat"/>
                <a:cs typeface="Montserrat"/>
                <a:sym typeface="Montserrat"/>
              </a:rPr>
              <a:t>pd.read_csv()</a:t>
            </a:r>
            <a:endParaRPr sz="1600">
              <a:solidFill>
                <a:srgbClr val="434343"/>
              </a:solidFill>
              <a:highlight>
                <a:srgbClr val="999999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Lee y carga el archivo .csv en un DataFrame (la estructura de datos principal de Pandas).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9763" y="3259125"/>
            <a:ext cx="5324470" cy="956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79" name="Google Shape;179;p30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Preprocesamiento de Datasets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465875" y="1031830"/>
            <a:ext cx="7470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Carga y Visualización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Librería: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Método de previsualización: </a:t>
            </a:r>
            <a:r>
              <a:rPr lang="es-419" sz="1600">
                <a:solidFill>
                  <a:srgbClr val="434343"/>
                </a:solidFill>
                <a:highlight>
                  <a:srgbClr val="999999"/>
                </a:highlight>
                <a:latin typeface="Montserrat"/>
                <a:ea typeface="Montserrat"/>
                <a:cs typeface="Montserrat"/>
                <a:sym typeface="Montserrat"/>
              </a:rPr>
              <a:t>df.head()</a:t>
            </a:r>
            <a:endParaRPr sz="1600">
              <a:solidFill>
                <a:srgbClr val="434343"/>
              </a:solidFill>
              <a:highlight>
                <a:srgbClr val="999999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Por default muestra las primeras 5 filas del DataFrame.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250" y="2643030"/>
            <a:ext cx="7081488" cy="189827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87" name="Google Shape;187;p31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Preprocesamiento de Datasets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465875" y="1031830"/>
            <a:ext cx="747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Entender los Datos (Tipos)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Usamos </a:t>
            </a:r>
            <a:r>
              <a:rPr lang="es-419" sz="1600">
                <a:solidFill>
                  <a:srgbClr val="434343"/>
                </a:solidFill>
                <a:highlight>
                  <a:srgbClr val="999999"/>
                </a:highlight>
                <a:latin typeface="Montserrat"/>
                <a:ea typeface="Montserrat"/>
                <a:cs typeface="Montserrat"/>
                <a:sym typeface="Montserrat"/>
              </a:rPr>
              <a:t>data.dtypes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para identificar el tipo de dato de cada columna.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1775" y="2114575"/>
            <a:ext cx="3400425" cy="2628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2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95" name="Google Shape;195;p32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Preprocesamiento de Datasets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465875" y="1031830"/>
            <a:ext cx="74703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Valores Faltantes (NaN)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son?: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Valores NaN (Not a Number). Datos no almacenados.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Importancia: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Debemos revisar que no haya valores faltantes antes del análisis.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Método dropna():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Remueve una fila si una sola columna tiene un dato faltante.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Método data.isna():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Revisa el dataframe y marca True donde hay un dato NA.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3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02" name="Google Shape;202;p33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Preprocesamiento de Datasets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465875" y="1031830"/>
            <a:ext cx="7470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Conteo de Valores Faltantes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saber el total de NaN por columna, usamos </a:t>
            </a:r>
            <a:r>
              <a:rPr lang="es-419" sz="1600">
                <a:solidFill>
                  <a:srgbClr val="434343"/>
                </a:solidFill>
                <a:highlight>
                  <a:srgbClr val="999999"/>
                </a:highlight>
                <a:latin typeface="Montserrat"/>
                <a:ea typeface="Montserrat"/>
                <a:cs typeface="Montserrat"/>
                <a:sym typeface="Montserrat"/>
              </a:rPr>
              <a:t>data.isna().sum()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Resultado: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Si todas las columnas muestran "0", podemos corroborar que el dataset no cuenta con datos faltantes.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4" name="Google Shape;20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350" y="2897800"/>
            <a:ext cx="6000301" cy="157845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05" name="Google Shape;20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6175" y="2840610"/>
            <a:ext cx="1992738" cy="169282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11" name="Google Shape;211;p34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Preprocesamiento de Datasets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2" name="Google Shape;212;p34"/>
          <p:cNvSpPr txBox="1"/>
          <p:nvPr/>
        </p:nvSpPr>
        <p:spPr>
          <a:xfrm>
            <a:off x="465875" y="1031830"/>
            <a:ext cx="7470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Representación de patrones</a:t>
            </a:r>
            <a:endParaRPr b="1"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 del Dataset: </a:t>
            </a:r>
            <a:r>
              <a:rPr lang="es-419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Predecir si alguien tiene diabetes (columna outcome).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 = </a:t>
            </a:r>
            <a:r>
              <a:rPr lang="es-419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Tiene diabetes, </a:t>
            </a:r>
            <a:r>
              <a:rPr b="1" lang="es-419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 = </a:t>
            </a:r>
            <a:r>
              <a:rPr lang="es-419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tiene diabetes.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Resultado:</a:t>
            </a:r>
            <a:r>
              <a:rPr lang="es-419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Vemos más "No" (0) que "Sí" (1). Hay más personas sin diabetes en la muestra.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Importancia:</a:t>
            </a:r>
            <a:r>
              <a:rPr lang="es-419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La variable outcome es nuestra etiqueta de salida en el aprendizaje supervisado. Es la respuesta que buscamos.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3" name="Google Shape;21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379" y="3260136"/>
            <a:ext cx="2243529" cy="1797193"/>
          </a:xfrm>
          <a:prstGeom prst="rect">
            <a:avLst/>
          </a:prstGeom>
          <a:noFill/>
          <a:ln>
            <a:noFill/>
          </a:ln>
          <a:effectLst>
            <a:outerShdw blurRad="43666" rotWithShape="0" algn="bl" dir="5400000" dist="14555">
              <a:srgbClr val="000000">
                <a:alpha val="50000"/>
              </a:srgbClr>
            </a:outerShdw>
          </a:effectLst>
        </p:spPr>
      </p:pic>
      <p:pic>
        <p:nvPicPr>
          <p:cNvPr id="214" name="Google Shape;21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4097" y="3441887"/>
            <a:ext cx="2816450" cy="1433697"/>
          </a:xfrm>
          <a:prstGeom prst="rect">
            <a:avLst/>
          </a:prstGeom>
          <a:noFill/>
          <a:ln>
            <a:noFill/>
          </a:ln>
          <a:effectLst>
            <a:outerShdw blurRad="43666" rotWithShape="0" algn="bl" dir="5400000" dist="1455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5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20" name="Google Shape;220;p35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Preprocesamiento de Datasets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1" name="Google Shape;221;p35"/>
          <p:cNvSpPr txBox="1"/>
          <p:nvPr/>
        </p:nvSpPr>
        <p:spPr>
          <a:xfrm>
            <a:off x="465875" y="1031830"/>
            <a:ext cx="74703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Histograma (Variable Edad)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Usamos histogramas en otras variables para entender mejor los datos.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Resultado: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La mayoría de los pacientes en la muestra tienen entre 20 y 40 años.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2" name="Google Shape;22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665" y="2225672"/>
            <a:ext cx="3520676" cy="27867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IMPUTACIÓN DE VARIABLES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33" name="Google Shape;233;p37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Imputación de Variables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4" name="Google Shape;234;p37"/>
          <p:cNvSpPr txBox="1"/>
          <p:nvPr/>
        </p:nvSpPr>
        <p:spPr>
          <a:xfrm>
            <a:off x="465875" y="875975"/>
            <a:ext cx="63567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es?: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el proceso de manejar los datos faltantes (NaN).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¿Por qué imputar?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machine learning debemos trabajar con datos lo más limpios y completos posible.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 buen preprocesamiento e imputación es vital antes de entrenar un modelo.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5" name="Google Shape;23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450" y="3377037"/>
            <a:ext cx="6155125" cy="1283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6" name="Google Shape;236;p37"/>
          <p:cNvPicPr preferRelativeResize="0"/>
          <p:nvPr/>
        </p:nvPicPr>
        <p:blipFill rotWithShape="1">
          <a:blip r:embed="rId5">
            <a:alphaModFix/>
          </a:blip>
          <a:srcRect b="0" l="12188" r="0" t="0"/>
          <a:stretch/>
        </p:blipFill>
        <p:spPr>
          <a:xfrm>
            <a:off x="7141383" y="1057275"/>
            <a:ext cx="1840125" cy="3028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42" name="Google Shape;242;p38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Imputación de Variables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3" name="Google Shape;243;p38"/>
          <p:cNvSpPr txBox="1"/>
          <p:nvPr/>
        </p:nvSpPr>
        <p:spPr>
          <a:xfrm>
            <a:off x="465875" y="875975"/>
            <a:ext cx="63567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Eliminar Filas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 eliminan las filas que contienen al menos un valor NaN.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Ventaja: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Rápido y fácil.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Desventaja: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Se reduce la cantidad de datos, pero se pueden perder observaciones valiosas.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4" name="Google Shape;24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6418" y="3568463"/>
            <a:ext cx="3050350" cy="55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45" name="Google Shape;245;p38"/>
          <p:cNvPicPr preferRelativeResize="0"/>
          <p:nvPr/>
        </p:nvPicPr>
        <p:blipFill rotWithShape="1">
          <a:blip r:embed="rId5">
            <a:alphaModFix/>
          </a:blip>
          <a:srcRect b="0" l="10849" r="0" t="0"/>
          <a:stretch/>
        </p:blipFill>
        <p:spPr>
          <a:xfrm>
            <a:off x="4375387" y="2660250"/>
            <a:ext cx="2377725" cy="2372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46" name="Google Shape;246;p38"/>
          <p:cNvPicPr preferRelativeResize="0"/>
          <p:nvPr/>
        </p:nvPicPr>
        <p:blipFill rotWithShape="1">
          <a:blip r:embed="rId6">
            <a:alphaModFix/>
          </a:blip>
          <a:srcRect b="0" l="11847" r="0" t="0"/>
          <a:stretch/>
        </p:blipFill>
        <p:spPr>
          <a:xfrm>
            <a:off x="7190975" y="1344450"/>
            <a:ext cx="1847200" cy="3028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52" name="Google Shape;252;p39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Imputación de Variables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465875" y="875975"/>
            <a:ext cx="63567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Reemplazar por el Promedio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 reemplazan los valores NaN por el valor promedio (media) de esa columna.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Finalidad: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perder datos (filas) que son parte de nuestro modelo.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4" name="Google Shape;254;p39"/>
          <p:cNvPicPr preferRelativeResize="0"/>
          <p:nvPr/>
        </p:nvPicPr>
        <p:blipFill rotWithShape="1">
          <a:blip r:embed="rId4">
            <a:alphaModFix/>
          </a:blip>
          <a:srcRect b="0" l="11847" r="0" t="0"/>
          <a:stretch/>
        </p:blipFill>
        <p:spPr>
          <a:xfrm>
            <a:off x="7028025" y="1139000"/>
            <a:ext cx="1847200" cy="3028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55" name="Google Shape;25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5475" y="2885025"/>
            <a:ext cx="3076575" cy="657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56" name="Google Shape;256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9275" y="2302550"/>
            <a:ext cx="1978550" cy="2724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4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62" name="Google Shape;262;p40"/>
          <p:cNvSpPr txBox="1"/>
          <p:nvPr>
            <p:ph type="ctrTitle"/>
          </p:nvPr>
        </p:nvSpPr>
        <p:spPr>
          <a:xfrm>
            <a:off x="465875" y="6084"/>
            <a:ext cx="83217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Resumen de la clase</a:t>
            </a:r>
            <a:endParaRPr sz="3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3" name="Google Shape;263;p40"/>
          <p:cNvSpPr txBox="1"/>
          <p:nvPr/>
        </p:nvSpPr>
        <p:spPr>
          <a:xfrm>
            <a:off x="465875" y="1112100"/>
            <a:ext cx="65964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Predicción de datos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Entrenamiento y validación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Generalización, subajuste y sobreajuste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Procesamiento de Datasets (Colab)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Pandas, Matplotlib y Seaborn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Imputación de variables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¿Consultas?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¡Muchas gracias!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