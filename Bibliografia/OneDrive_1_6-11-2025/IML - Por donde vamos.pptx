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Poppins Bold" panose="020B0604020202020204" charset="0"/>
      <p:regular r:id="rId5"/>
      <p:bold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Poppins" panose="020B0604020202020204" charset="0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764ADA-B9E2-FDC3-D3AD-3D9553C4E7A9}" v="119" dt="2025-06-06T19:11:51.2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presProps" Target="presProps.xml"/><Relationship Id="rId10" Type="http://schemas.openxmlformats.org/officeDocument/2006/relationships/font" Target="fonts/font6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78530" y="-258421"/>
            <a:ext cx="3532099" cy="2574241"/>
          </a:xfrm>
          <a:custGeom>
            <a:avLst/>
            <a:gdLst/>
            <a:ahLst/>
            <a:cxnLst/>
            <a:rect l="l" t="t" r="r" b="b"/>
            <a:pathLst>
              <a:path w="3532099" h="2574241">
                <a:moveTo>
                  <a:pt x="0" y="0"/>
                </a:moveTo>
                <a:lnTo>
                  <a:pt x="3532099" y="0"/>
                </a:lnTo>
                <a:lnTo>
                  <a:pt x="3532099" y="2574242"/>
                </a:lnTo>
                <a:lnTo>
                  <a:pt x="0" y="25742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4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387520" y="5095473"/>
            <a:ext cx="15834016" cy="88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89"/>
              </a:lnSpc>
            </a:pPr>
            <a:r>
              <a:rPr lang="en-US" sz="6584" b="1">
                <a:solidFill>
                  <a:srgbClr val="111A29"/>
                </a:solidFill>
                <a:latin typeface="Poppins Bold"/>
                <a:ea typeface="Poppins Bold"/>
                <a:cs typeface="Poppins Bold"/>
                <a:sym typeface="Poppins Bold"/>
              </a:rPr>
              <a:t>EXPERIENCIA DE USUARIOS </a:t>
            </a:r>
          </a:p>
        </p:txBody>
      </p:sp>
      <p:sp>
        <p:nvSpPr>
          <p:cNvPr id="5" name="Freeform 5"/>
          <p:cNvSpPr/>
          <p:nvPr/>
        </p:nvSpPr>
        <p:spPr>
          <a:xfrm>
            <a:off x="15034061" y="267181"/>
            <a:ext cx="2870069" cy="1523039"/>
          </a:xfrm>
          <a:custGeom>
            <a:avLst/>
            <a:gdLst/>
            <a:ahLst/>
            <a:cxnLst/>
            <a:rect l="l" t="t" r="r" b="b"/>
            <a:pathLst>
              <a:path w="2870069" h="1523039">
                <a:moveTo>
                  <a:pt x="0" y="0"/>
                </a:moveTo>
                <a:lnTo>
                  <a:pt x="2870069" y="0"/>
                </a:lnTo>
                <a:lnTo>
                  <a:pt x="2870069" y="1523038"/>
                </a:lnTo>
                <a:lnTo>
                  <a:pt x="0" y="15230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l="-4892" t="-13381" r="-7655" b="-17332"/>
            </a:stretch>
          </a:blipFill>
        </p:spPr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5DE7EE7-5B86-3B01-5311-896C7FC78547}"/>
              </a:ext>
            </a:extLst>
          </p:cNvPr>
          <p:cNvSpPr/>
          <p:nvPr/>
        </p:nvSpPr>
        <p:spPr>
          <a:xfrm>
            <a:off x="2727278" y="5332599"/>
            <a:ext cx="13167368" cy="1594041"/>
          </a:xfrm>
          <a:prstGeom prst="roundRect">
            <a:avLst/>
          </a:prstGeom>
          <a:solidFill>
            <a:srgbClr val="0056F3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616194C4-FE64-D9E5-2DC5-630B1785122B}"/>
              </a:ext>
            </a:extLst>
          </p:cNvPr>
          <p:cNvSpPr txBox="1"/>
          <p:nvPr/>
        </p:nvSpPr>
        <p:spPr>
          <a:xfrm>
            <a:off x="2715871" y="5697864"/>
            <a:ext cx="13177312" cy="7686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189"/>
              </a:lnSpc>
            </a:pPr>
            <a:r>
              <a:rPr lang="en-US" sz="4800" dirty="0" smtClean="0">
                <a:solidFill>
                  <a:schemeClr val="bg1"/>
                </a:solidFill>
                <a:latin typeface="Poppins Bold"/>
                <a:ea typeface="+mn-lt"/>
                <a:cs typeface="+mn-lt"/>
                <a:sym typeface="Poppins Bold"/>
              </a:rPr>
              <a:t>INTRODUCCIÓN AL MACHINE LEARNING</a:t>
            </a:r>
            <a:endParaRPr lang="en-US" sz="4800" dirty="0">
              <a:solidFill>
                <a:schemeClr val="bg1"/>
              </a:solidFill>
              <a:latin typeface="Poppins Bold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3908E309-9F77-7DEA-25C1-3F8946EDD416}"/>
              </a:ext>
            </a:extLst>
          </p:cNvPr>
          <p:cNvSpPr txBox="1"/>
          <p:nvPr/>
        </p:nvSpPr>
        <p:spPr>
          <a:xfrm>
            <a:off x="2570550" y="3723367"/>
            <a:ext cx="12868873" cy="945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6579"/>
              </a:lnSpc>
            </a:pP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¿</a:t>
            </a:r>
            <a:r>
              <a:rPr lang="en-US" sz="6999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Por</a:t>
            </a: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dónde</a:t>
            </a: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6999" b="1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vamos</a:t>
            </a:r>
            <a:r>
              <a:rPr lang="en-US" sz="69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?</a:t>
            </a:r>
          </a:p>
        </p:txBody>
      </p:sp>
      <p:sp>
        <p:nvSpPr>
          <p:cNvPr id="4" name="Rectángulo 3"/>
          <p:cNvSpPr/>
          <p:nvPr/>
        </p:nvSpPr>
        <p:spPr>
          <a:xfrm>
            <a:off x="6931126" y="7135957"/>
            <a:ext cx="4746813" cy="93871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6579"/>
              </a:lnSpc>
            </a:pPr>
            <a:r>
              <a:rPr lang="en-US" sz="5400" b="1" dirty="0" err="1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Cuarta</a:t>
            </a:r>
            <a:r>
              <a:rPr lang="en-US" sz="5400" b="1" dirty="0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5400" b="1" dirty="0" err="1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clase</a:t>
            </a:r>
            <a:endParaRPr lang="en-US" sz="54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253284" y="182389"/>
            <a:ext cx="4034716" cy="1978876"/>
          </a:xfrm>
          <a:custGeom>
            <a:avLst/>
            <a:gdLst/>
            <a:ahLst/>
            <a:cxnLst/>
            <a:rect l="l" t="t" r="r" b="b"/>
            <a:pathLst>
              <a:path w="4034716" h="1978876">
                <a:moveTo>
                  <a:pt x="0" y="0"/>
                </a:moveTo>
                <a:lnTo>
                  <a:pt x="4034716" y="0"/>
                </a:lnTo>
                <a:lnTo>
                  <a:pt x="4034716" y="1978875"/>
                </a:lnTo>
                <a:lnTo>
                  <a:pt x="0" y="1978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t="-25661"/>
            </a:stretch>
          </a:blipFill>
        </p:spPr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654919"/>
              </p:ext>
            </p:extLst>
          </p:nvPr>
        </p:nvGraphicFramePr>
        <p:xfrm>
          <a:off x="926756" y="1899851"/>
          <a:ext cx="16421080" cy="1925706"/>
        </p:xfrm>
        <a:graphic>
          <a:graphicData uri="http://schemas.openxmlformats.org/drawingml/2006/table">
            <a:tbl>
              <a:tblPr/>
              <a:tblGrid>
                <a:gridCol w="2052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2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2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2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26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2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0526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526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925706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Semana 1</a:t>
                      </a:r>
                      <a:endParaRPr lang="en-US" sz="2400" dirty="0"/>
                    </a:p>
                    <a:p>
                      <a:pPr algn="ctr">
                        <a:lnSpc>
                          <a:spcPts val="2799"/>
                        </a:lnSpc>
                      </a:pPr>
                      <a:endParaRPr lang="en-US" sz="1950" dirty="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Semana 2</a:t>
                      </a:r>
                      <a:endParaRPr lang="en-US" sz="2400" dirty="0"/>
                    </a:p>
                    <a:p>
                      <a:pPr algn="ctr">
                        <a:lnSpc>
                          <a:spcPts val="2799"/>
                        </a:lnSpc>
                      </a:pPr>
                      <a:endParaRPr lang="en-US" sz="1950" dirty="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Semana 3</a:t>
                      </a:r>
                      <a:endParaRPr lang="en-US" sz="2400" dirty="0"/>
                    </a:p>
                    <a:p>
                      <a:pPr algn="ctr">
                        <a:lnSpc>
                          <a:spcPts val="2799"/>
                        </a:lnSpc>
                      </a:pPr>
                      <a:endParaRPr lang="en-US" sz="1950" dirty="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Semana 4</a:t>
                      </a:r>
                      <a:endParaRPr lang="en-US" sz="2400" dirty="0"/>
                    </a:p>
                    <a:p>
                      <a:pPr algn="ctr">
                        <a:lnSpc>
                          <a:spcPts val="2799"/>
                        </a:lnSpc>
                      </a:pPr>
                      <a:endParaRPr lang="en-US" sz="1950" dirty="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Semana 5</a:t>
                      </a:r>
                      <a:endParaRPr lang="en-US" sz="2400" dirty="0"/>
                    </a:p>
                    <a:p>
                      <a:pPr algn="ctr">
                        <a:lnSpc>
                          <a:spcPts val="2799"/>
                        </a:lnSpc>
                      </a:pPr>
                      <a:endParaRPr lang="en-US" sz="1950" dirty="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Semana 6</a:t>
                      </a:r>
                      <a:endParaRPr lang="en-US" sz="2400" dirty="0"/>
                    </a:p>
                    <a:p>
                      <a:pPr algn="ctr">
                        <a:lnSpc>
                          <a:spcPts val="2799"/>
                        </a:lnSpc>
                      </a:pPr>
                      <a:endParaRPr lang="en-US" sz="1950" dirty="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Semana 7</a:t>
                      </a:r>
                      <a:endParaRPr lang="en-US" sz="2400" dirty="0"/>
                    </a:p>
                    <a:p>
                      <a:pPr algn="ctr">
                        <a:lnSpc>
                          <a:spcPts val="2799"/>
                        </a:lnSpc>
                      </a:pPr>
                      <a:endParaRPr lang="en-US" sz="1950" dirty="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Semana 8</a:t>
                      </a:r>
                      <a:endParaRPr lang="en-US" sz="2400" dirty="0"/>
                    </a:p>
                    <a:p>
                      <a:pPr algn="ctr">
                        <a:lnSpc>
                          <a:spcPts val="2799"/>
                        </a:lnSpc>
                      </a:pPr>
                      <a:endParaRPr lang="en-US" sz="1950" dirty="0">
                        <a:solidFill>
                          <a:srgbClr val="FFFFFF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L="190500" marR="190500" marT="190500" marB="190500" anchor="ctr">
                    <a:lnL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7150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Freeform 6"/>
          <p:cNvSpPr/>
          <p:nvPr/>
        </p:nvSpPr>
        <p:spPr>
          <a:xfrm>
            <a:off x="12518680" y="4598275"/>
            <a:ext cx="4829789" cy="3620530"/>
          </a:xfrm>
          <a:custGeom>
            <a:avLst/>
            <a:gdLst/>
            <a:ahLst/>
            <a:cxnLst/>
            <a:rect l="l" t="t" r="r" b="b"/>
            <a:pathLst>
              <a:path w="5401289" h="4114800">
                <a:moveTo>
                  <a:pt x="0" y="0"/>
                </a:moveTo>
                <a:lnTo>
                  <a:pt x="5401289" y="0"/>
                </a:lnTo>
                <a:lnTo>
                  <a:pt x="54012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534363" y="5449731"/>
            <a:ext cx="4813868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 dirty="0" err="1">
                <a:solidFill>
                  <a:srgbClr val="0056F3"/>
                </a:solidFill>
                <a:latin typeface="Poppins Bold"/>
                <a:ea typeface="Poppins Bold"/>
                <a:cs typeface="Poppins Bold"/>
                <a:sym typeface="Poppins Bold"/>
              </a:rPr>
              <a:t>Realizar</a:t>
            </a:r>
            <a:r>
              <a:rPr lang="en-US" sz="3200" b="1" dirty="0">
                <a:solidFill>
                  <a:srgbClr val="0056F3"/>
                </a:solidFill>
                <a:latin typeface="Poppins Bold"/>
                <a:ea typeface="Poppins Bold"/>
                <a:cs typeface="Poppins Bold"/>
                <a:sym typeface="Poppins Bold"/>
              </a:rPr>
              <a:t> API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 dirty="0" err="1" smtClean="0">
                <a:solidFill>
                  <a:srgbClr val="0056F3"/>
                </a:solidFill>
                <a:latin typeface="Poppins Bold"/>
                <a:ea typeface="Poppins Bold"/>
                <a:cs typeface="Poppins Bold"/>
                <a:sym typeface="Poppins Bold"/>
              </a:rPr>
              <a:t>Completar</a:t>
            </a:r>
            <a:r>
              <a:rPr lang="en-US" sz="3200" b="1" dirty="0" smtClean="0">
                <a:solidFill>
                  <a:srgbClr val="0056F3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200" b="1" dirty="0">
                <a:solidFill>
                  <a:srgbClr val="0056F3"/>
                </a:solidFill>
                <a:latin typeface="Poppins Bold"/>
                <a:ea typeface="Poppins Bold"/>
                <a:cs typeface="Poppins Bold"/>
                <a:sym typeface="Poppins Bold"/>
              </a:rPr>
              <a:t>AE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b="1" dirty="0" err="1" smtClean="0">
                <a:solidFill>
                  <a:srgbClr val="0056F3"/>
                </a:solidFill>
                <a:latin typeface="Poppins Bold"/>
                <a:ea typeface="Poppins Bold"/>
                <a:cs typeface="Poppins Bold"/>
                <a:sym typeface="Poppins Bold"/>
              </a:rPr>
              <a:t>Revisar</a:t>
            </a:r>
            <a:r>
              <a:rPr lang="en-US" sz="3200" b="1" dirty="0" smtClean="0">
                <a:solidFill>
                  <a:srgbClr val="0056F3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200" b="1" dirty="0">
                <a:solidFill>
                  <a:srgbClr val="0056F3"/>
                </a:solidFill>
                <a:latin typeface="Poppins Bold"/>
                <a:ea typeface="Poppins Bold"/>
                <a:cs typeface="Poppins Bold"/>
                <a:sym typeface="Poppins Bold"/>
              </a:rPr>
              <a:t>material de </a:t>
            </a:r>
            <a:r>
              <a:rPr lang="en-US" sz="3200" b="1" dirty="0" err="1">
                <a:solidFill>
                  <a:srgbClr val="0056F3"/>
                </a:solidFill>
                <a:latin typeface="Poppins Bold"/>
                <a:ea typeface="Poppins Bold"/>
                <a:cs typeface="Poppins Bold"/>
                <a:sym typeface="Poppins Bold"/>
              </a:rPr>
              <a:t>lectura</a:t>
            </a:r>
            <a:endParaRPr lang="en-US" sz="3200" b="1" dirty="0">
              <a:solidFill>
                <a:srgbClr val="0056F3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73112F-24CD-2AA2-E395-409FA02BDFFD}"/>
              </a:ext>
            </a:extLst>
          </p:cNvPr>
          <p:cNvSpPr txBox="1"/>
          <p:nvPr/>
        </p:nvSpPr>
        <p:spPr>
          <a:xfrm>
            <a:off x="2535631" y="8987224"/>
            <a:ext cx="5936388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4480"/>
              </a:lnSpc>
            </a:pPr>
            <a:r>
              <a:rPr lang="en-US" sz="3200" b="1" dirty="0">
                <a:solidFill>
                  <a:srgbClr val="F74A14"/>
                </a:solidFill>
                <a:latin typeface="Poppins Bold"/>
                <a:ea typeface="Poppins Bold"/>
                <a:cs typeface="Poppins Bold"/>
                <a:sym typeface="Poppins Bold"/>
              </a:rPr>
              <a:t>El </a:t>
            </a:r>
            <a:r>
              <a:rPr lang="en-US" sz="3200" b="1" dirty="0" err="1">
                <a:solidFill>
                  <a:srgbClr val="F74A14"/>
                </a:solidFill>
                <a:latin typeface="Poppins Bold"/>
                <a:ea typeface="Poppins Bold"/>
                <a:cs typeface="Poppins Bold"/>
                <a:sym typeface="Poppins Bold"/>
              </a:rPr>
              <a:t>bimestre</a:t>
            </a:r>
            <a:r>
              <a:rPr lang="en-US" sz="3200" b="1" dirty="0">
                <a:solidFill>
                  <a:srgbClr val="F74A14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3200" b="1" dirty="0" err="1">
                <a:solidFill>
                  <a:srgbClr val="F74A14"/>
                </a:solidFill>
                <a:latin typeface="Poppins Bold"/>
                <a:ea typeface="Poppins Bold"/>
                <a:cs typeface="Poppins Bold"/>
                <a:sym typeface="Poppins Bold"/>
              </a:rPr>
              <a:t>finaliza</a:t>
            </a:r>
            <a:r>
              <a:rPr lang="en-US" sz="3200" b="1" dirty="0">
                <a:solidFill>
                  <a:srgbClr val="F74A14"/>
                </a:solidFill>
                <a:latin typeface="Poppins Bold"/>
                <a:ea typeface="Poppins Bold"/>
                <a:cs typeface="Poppins Bold"/>
                <a:sym typeface="Poppins Bold"/>
              </a:rPr>
              <a:t> el </a:t>
            </a:r>
            <a:r>
              <a:rPr lang="en-US" sz="3200" b="1" dirty="0" smtClean="0">
                <a:solidFill>
                  <a:srgbClr val="F74A14"/>
                </a:solidFill>
                <a:latin typeface="Poppins Bold"/>
                <a:ea typeface="Poppins Bold"/>
                <a:cs typeface="Poppins Bold"/>
                <a:sym typeface="Poppins Bold"/>
              </a:rPr>
              <a:t>14/12</a:t>
            </a:r>
            <a:r>
              <a:rPr lang="en-US" sz="3200" b="1" dirty="0" smtClean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​</a:t>
            </a:r>
            <a:endParaRPr lang="en-US" sz="32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1BA593A-87BF-A3F9-446C-D2189AE7E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291974"/>
              </p:ext>
            </p:extLst>
          </p:nvPr>
        </p:nvGraphicFramePr>
        <p:xfrm>
          <a:off x="926757" y="4600575"/>
          <a:ext cx="10220980" cy="108585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55245">
                  <a:extLst>
                    <a:ext uri="{9D8B030D-6E8A-4147-A177-3AD203B41FA5}">
                      <a16:colId xmlns:a16="http://schemas.microsoft.com/office/drawing/2014/main" val="617690903"/>
                    </a:ext>
                  </a:extLst>
                </a:gridCol>
                <a:gridCol w="2555245">
                  <a:extLst>
                    <a:ext uri="{9D8B030D-6E8A-4147-A177-3AD203B41FA5}">
                      <a16:colId xmlns:a16="http://schemas.microsoft.com/office/drawing/2014/main" val="3886040581"/>
                    </a:ext>
                  </a:extLst>
                </a:gridCol>
                <a:gridCol w="2555245">
                  <a:extLst>
                    <a:ext uri="{9D8B030D-6E8A-4147-A177-3AD203B41FA5}">
                      <a16:colId xmlns:a16="http://schemas.microsoft.com/office/drawing/2014/main" val="3978783976"/>
                    </a:ext>
                  </a:extLst>
                </a:gridCol>
                <a:gridCol w="2555245">
                  <a:extLst>
                    <a:ext uri="{9D8B030D-6E8A-4147-A177-3AD203B41FA5}">
                      <a16:colId xmlns:a16="http://schemas.microsoft.com/office/drawing/2014/main" val="2897091639"/>
                    </a:ext>
                  </a:extLst>
                </a:gridCol>
              </a:tblGrid>
              <a:tr h="108585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4050"/>
                        </a:lnSpc>
                        <a:buNone/>
                      </a:pPr>
                      <a:r>
                        <a:rPr lang="en-US" sz="2900" b="1" dirty="0">
                          <a:solidFill>
                            <a:srgbClr val="FFFFFF"/>
                          </a:solidFill>
                          <a:effectLst/>
                          <a:latin typeface="Poppins Bold"/>
                        </a:rPr>
                        <a:t>MÓDULO 1</a:t>
                      </a:r>
                      <a:endParaRPr lang="en-US" dirty="0">
                        <a:effectLst/>
                      </a:endParaRPr>
                    </a:p>
                  </a:txBody>
                  <a:tcPr marL="138970" marR="138970" marT="138970" marB="138970" anchor="ctr">
                    <a:lnL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4050"/>
                        </a:lnSpc>
                        <a:buNone/>
                      </a:pPr>
                      <a:r>
                        <a:rPr lang="en-US" sz="2900" dirty="0">
                          <a:solidFill>
                            <a:srgbClr val="FFFFFF"/>
                          </a:solidFill>
                          <a:effectLst/>
                          <a:latin typeface="Poppins"/>
                        </a:rPr>
                        <a:t>MÓDULO 2</a:t>
                      </a:r>
                      <a:endParaRPr lang="en-US" dirty="0">
                        <a:effectLst/>
                        <a:latin typeface="Poppins"/>
                      </a:endParaRPr>
                    </a:p>
                  </a:txBody>
                  <a:tcPr marL="138970" marR="138970" marT="138970" marB="138970" anchor="ctr">
                    <a:lnL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4050"/>
                        </a:lnSpc>
                        <a:buNone/>
                      </a:pPr>
                      <a:r>
                        <a:rPr lang="en-US" sz="2900" dirty="0">
                          <a:solidFill>
                            <a:srgbClr val="FFFFFF"/>
                          </a:solidFill>
                          <a:effectLst/>
                          <a:latin typeface="Poppins"/>
                        </a:rPr>
                        <a:t>MÓDULO 3</a:t>
                      </a:r>
                      <a:endParaRPr lang="en-US" dirty="0">
                        <a:effectLst/>
                        <a:latin typeface="Poppins"/>
                      </a:endParaRPr>
                    </a:p>
                  </a:txBody>
                  <a:tcPr marL="138970" marR="138970" marT="138970" marB="138970" anchor="ctr">
                    <a:lnL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4050"/>
                        </a:lnSpc>
                        <a:buNone/>
                      </a:pPr>
                      <a:r>
                        <a:rPr lang="en-US" sz="2900" dirty="0">
                          <a:solidFill>
                            <a:srgbClr val="FFFFFF"/>
                          </a:solidFill>
                          <a:effectLst/>
                          <a:latin typeface="Poppins"/>
                        </a:rPr>
                        <a:t>MÓDULO 4</a:t>
                      </a:r>
                      <a:endParaRPr lang="en-US" dirty="0">
                        <a:effectLst/>
                        <a:latin typeface="Poppins"/>
                      </a:endParaRPr>
                    </a:p>
                  </a:txBody>
                  <a:tcPr marL="138970" marR="138970" marT="138970" marB="138970" anchor="ctr">
                    <a:lnL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72258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C3E94D4-2DF0-D578-AE9D-3E2414523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35688"/>
              </p:ext>
            </p:extLst>
          </p:nvPr>
        </p:nvGraphicFramePr>
        <p:xfrm>
          <a:off x="942202" y="6579972"/>
          <a:ext cx="10162180" cy="16002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40545">
                  <a:extLst>
                    <a:ext uri="{9D8B030D-6E8A-4147-A177-3AD203B41FA5}">
                      <a16:colId xmlns:a16="http://schemas.microsoft.com/office/drawing/2014/main" val="1502339537"/>
                    </a:ext>
                  </a:extLst>
                </a:gridCol>
                <a:gridCol w="2540545">
                  <a:extLst>
                    <a:ext uri="{9D8B030D-6E8A-4147-A177-3AD203B41FA5}">
                      <a16:colId xmlns:a16="http://schemas.microsoft.com/office/drawing/2014/main" val="2601852396"/>
                    </a:ext>
                  </a:extLst>
                </a:gridCol>
                <a:gridCol w="2540545">
                  <a:extLst>
                    <a:ext uri="{9D8B030D-6E8A-4147-A177-3AD203B41FA5}">
                      <a16:colId xmlns:a16="http://schemas.microsoft.com/office/drawing/2014/main" val="1902988321"/>
                    </a:ext>
                  </a:extLst>
                </a:gridCol>
                <a:gridCol w="2540545">
                  <a:extLst>
                    <a:ext uri="{9D8B030D-6E8A-4147-A177-3AD203B41FA5}">
                      <a16:colId xmlns:a16="http://schemas.microsoft.com/office/drawing/2014/main" val="2702606513"/>
                    </a:ext>
                  </a:extLst>
                </a:gridCol>
              </a:tblGrid>
              <a:tr h="1600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4050"/>
                        </a:lnSpc>
                        <a:buNone/>
                      </a:pPr>
                      <a:r>
                        <a:rPr lang="en-US" sz="2900" b="1" dirty="0">
                          <a:solidFill>
                            <a:srgbClr val="FFFFFF"/>
                          </a:solidFill>
                          <a:effectLst/>
                          <a:latin typeface="Poppins Bold"/>
                        </a:rPr>
                        <a:t>API 1</a:t>
                      </a:r>
                      <a:endParaRPr lang="en-US" dirty="0">
                        <a:effectLst/>
                        <a:latin typeface="Poppins Bold"/>
                      </a:endParaRPr>
                    </a:p>
                    <a:p>
                      <a:pPr lvl="0" algn="ctr">
                        <a:lnSpc>
                          <a:spcPts val="4050"/>
                        </a:lnSpc>
                        <a:buNone/>
                      </a:pPr>
                      <a:r>
                        <a:rPr lang="en-US" sz="2900" b="0" i="0" u="none" strike="noStrike" noProof="0" dirty="0" smtClean="0">
                          <a:solidFill>
                            <a:srgbClr val="FFFFFF"/>
                          </a:solidFill>
                          <a:effectLst/>
                          <a:latin typeface="Poppins"/>
                        </a:rPr>
                        <a:t>11/11</a:t>
                      </a:r>
                      <a:endParaRPr lang="en-US" dirty="0"/>
                    </a:p>
                  </a:txBody>
                  <a:tcPr marL="138970" marR="138970" marT="138970" marB="138970" anchor="ctr">
                    <a:lnL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6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4050"/>
                        </a:lnSpc>
                        <a:buNone/>
                      </a:pPr>
                      <a:r>
                        <a:rPr lang="en-US" sz="2900" b="1" dirty="0">
                          <a:solidFill>
                            <a:srgbClr val="FFFFFF"/>
                          </a:solidFill>
                          <a:effectLst/>
                          <a:latin typeface="Poppins Bold"/>
                        </a:rPr>
                        <a:t>API 2</a:t>
                      </a:r>
                      <a:endParaRPr lang="en-US" dirty="0">
                        <a:effectLst/>
                        <a:latin typeface="Poppins Bold"/>
                      </a:endParaRPr>
                    </a:p>
                    <a:p>
                      <a:pPr lvl="0" algn="ctr">
                        <a:lnSpc>
                          <a:spcPts val="4050"/>
                        </a:lnSpc>
                        <a:buNone/>
                      </a:pPr>
                      <a:r>
                        <a:rPr lang="en-US" sz="2900" b="0" i="0" u="none" strike="noStrike" noProof="0" dirty="0" smtClean="0">
                          <a:solidFill>
                            <a:srgbClr val="FFFFFF"/>
                          </a:solidFill>
                          <a:effectLst/>
                          <a:latin typeface="Poppins"/>
                        </a:rPr>
                        <a:t>18/11</a:t>
                      </a:r>
                      <a:endParaRPr lang="en-US" dirty="0"/>
                    </a:p>
                  </a:txBody>
                  <a:tcPr marL="138970" marR="138970" marT="138970" marB="138970" anchor="ctr">
                    <a:lnL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4050"/>
                        </a:lnSpc>
                        <a:buNone/>
                      </a:pPr>
                      <a:r>
                        <a:rPr lang="en-US" sz="2900" b="1" dirty="0">
                          <a:solidFill>
                            <a:srgbClr val="FFFFFF"/>
                          </a:solidFill>
                          <a:effectLst/>
                          <a:latin typeface="Poppins Bold"/>
                        </a:rPr>
                        <a:t>API 3</a:t>
                      </a:r>
                      <a:endParaRPr lang="en-US" dirty="0">
                        <a:effectLst/>
                        <a:latin typeface="Poppins Bold"/>
                      </a:endParaRPr>
                    </a:p>
                    <a:p>
                      <a:pPr lvl="0" algn="ctr">
                        <a:lnSpc>
                          <a:spcPts val="4050"/>
                        </a:lnSpc>
                        <a:buNone/>
                      </a:pPr>
                      <a:r>
                        <a:rPr lang="en-US" sz="2900" b="0" i="0" u="none" strike="noStrike" noProof="0" dirty="0" smtClean="0">
                          <a:solidFill>
                            <a:srgbClr val="FFFFFF"/>
                          </a:solidFill>
                          <a:effectLst/>
                          <a:latin typeface="Poppins"/>
                        </a:rPr>
                        <a:t>25/11</a:t>
                      </a:r>
                      <a:endParaRPr lang="en-US" dirty="0"/>
                    </a:p>
                  </a:txBody>
                  <a:tcPr marL="138970" marR="138970" marT="138970" marB="138970" anchor="ctr">
                    <a:lnL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4050"/>
                        </a:lnSpc>
                        <a:buNone/>
                      </a:pPr>
                      <a:r>
                        <a:rPr lang="en-US" sz="2900" b="1" dirty="0">
                          <a:solidFill>
                            <a:srgbClr val="FFFFFF"/>
                          </a:solidFill>
                          <a:effectLst/>
                          <a:latin typeface="Poppins Bold"/>
                        </a:rPr>
                        <a:t>API 4</a:t>
                      </a:r>
                      <a:endParaRPr lang="en-US" dirty="0">
                        <a:effectLst/>
                        <a:latin typeface="Poppins Bold"/>
                      </a:endParaRPr>
                    </a:p>
                    <a:p>
                      <a:pPr lvl="0" algn="ctr">
                        <a:lnSpc>
                          <a:spcPts val="4050"/>
                        </a:lnSpc>
                        <a:buNone/>
                      </a:pPr>
                      <a:r>
                        <a:rPr lang="en-US" sz="2900" b="0" i="0" u="none" strike="noStrike" noProof="0" dirty="0" smtClean="0">
                          <a:solidFill>
                            <a:srgbClr val="FFFFFF"/>
                          </a:solidFill>
                          <a:effectLst/>
                          <a:latin typeface="Poppins"/>
                        </a:rPr>
                        <a:t>2/12</a:t>
                      </a:r>
                      <a:endParaRPr lang="en-US" dirty="0"/>
                    </a:p>
                  </a:txBody>
                  <a:tcPr marL="138970" marR="138970" marT="138970" marB="138970" anchor="ctr">
                    <a:lnL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174" cap="flat" cmpd="sng" algn="ctr">
                      <a:solidFill>
                        <a:srgbClr val="005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37527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CA912-95FD-AD3A-356B-763D9B06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9D56F98-8F26-6B6E-3FF8-A5901D634628}"/>
              </a:ext>
            </a:extLst>
          </p:cNvPr>
          <p:cNvSpPr txBox="1"/>
          <p:nvPr/>
        </p:nvSpPr>
        <p:spPr>
          <a:xfrm>
            <a:off x="9684180" y="3254206"/>
            <a:ext cx="5777331" cy="7848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200">
                <a:solidFill>
                  <a:srgbClr val="FFFFFF"/>
                </a:solidFill>
                <a:ea typeface="Calibri"/>
                <a:cs typeface="Calibri"/>
              </a:rPr>
              <a:t>NÚMERO DE WHATSAPP</a:t>
            </a:r>
          </a:p>
        </p:txBody>
      </p:sp>
      <p:pic>
        <p:nvPicPr>
          <p:cNvPr id="7" name="Imagen 6" descr="Interfaz de usuario gráfica, Texto, Aplicación&#10;&#10;El contenido generado por IA puede ser incorrecto.">
            <a:extLst>
              <a:ext uri="{FF2B5EF4-FFF2-40B4-BE49-F238E27FC236}">
                <a16:creationId xmlns:a16="http://schemas.microsoft.com/office/drawing/2014/main" id="{0E85F81D-9B16-DA70-7E0B-2C3CE59A2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86" y="1"/>
            <a:ext cx="18287999" cy="10286999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72F93421-4413-B76B-F7B8-AE7F4645837D}"/>
              </a:ext>
            </a:extLst>
          </p:cNvPr>
          <p:cNvSpPr txBox="1"/>
          <p:nvPr/>
        </p:nvSpPr>
        <p:spPr>
          <a:xfrm>
            <a:off x="9619512" y="3009900"/>
            <a:ext cx="7189271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800" dirty="0">
                <a:solidFill>
                  <a:srgbClr val="FFFFFF"/>
                </a:solidFill>
                <a:ea typeface="Calibri"/>
                <a:cs typeface="Calibri"/>
              </a:rPr>
              <a:t>+549 1124848704</a:t>
            </a:r>
            <a:endParaRPr lang="es-ES" sz="4800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9525000" y="5221754"/>
            <a:ext cx="5631711" cy="75025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2F93421-4413-B76B-F7B8-AE7F4645837D}"/>
              </a:ext>
            </a:extLst>
          </p:cNvPr>
          <p:cNvSpPr txBox="1"/>
          <p:nvPr/>
        </p:nvSpPr>
        <p:spPr>
          <a:xfrm>
            <a:off x="9619512" y="5104537"/>
            <a:ext cx="4785917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800" dirty="0" smtClean="0">
                <a:solidFill>
                  <a:srgbClr val="FFFFFF"/>
                </a:solidFill>
                <a:ea typeface="Calibri"/>
                <a:cs typeface="Calibri"/>
              </a:rPr>
              <a:t>+549 1167994902</a:t>
            </a:r>
            <a:endParaRPr lang="es-ES" sz="4800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9634026" y="6972299"/>
            <a:ext cx="5827485" cy="750257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2F93421-4413-B76B-F7B8-AE7F4645837D}"/>
              </a:ext>
            </a:extLst>
          </p:cNvPr>
          <p:cNvSpPr txBox="1"/>
          <p:nvPr/>
        </p:nvSpPr>
        <p:spPr>
          <a:xfrm>
            <a:off x="9677737" y="6896962"/>
            <a:ext cx="4785917" cy="8771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137160" tIns="68580" rIns="137160" bIns="6858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800" dirty="0" smtClean="0">
                <a:solidFill>
                  <a:srgbClr val="FFFFFF"/>
                </a:solidFill>
                <a:ea typeface="Calibri"/>
                <a:cs typeface="Calibri"/>
              </a:rPr>
              <a:t>+549 1167995026</a:t>
            </a:r>
            <a:endParaRPr lang="es-ES" sz="4800" dirty="0"/>
          </a:p>
        </p:txBody>
      </p:sp>
    </p:spTree>
    <p:extLst>
      <p:ext uri="{BB962C8B-B14F-4D97-AF65-F5344CB8AC3E}">
        <p14:creationId xmlns:p14="http://schemas.microsoft.com/office/powerpoint/2010/main" val="17615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76</Words>
  <Application>Microsoft Office PowerPoint</Application>
  <PresentationFormat>Personalizado</PresentationFormat>
  <Paragraphs>32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Poppins Bold</vt:lpstr>
      <vt:lpstr>Calibri</vt:lpstr>
      <vt:lpstr>Arial</vt:lpstr>
      <vt:lpstr>Poppins</vt:lpstr>
      <vt:lpstr>Office Theme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UX - Por donde vamos?</dc:title>
  <dc:creator>Teclab1</dc:creator>
  <cp:lastModifiedBy>Andres Escuadra</cp:lastModifiedBy>
  <cp:revision>62</cp:revision>
  <dcterms:created xsi:type="dcterms:W3CDTF">2006-08-16T00:00:00Z</dcterms:created>
  <dcterms:modified xsi:type="dcterms:W3CDTF">2025-11-06T22:07:14Z</dcterms:modified>
  <dc:identifier>DAGmzigGFuE</dc:identifier>
</cp:coreProperties>
</file>