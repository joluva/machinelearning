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5143500" cx="9144000"/>
  <p:notesSz cx="6858000" cy="9144000"/>
  <p:embeddedFontLst>
    <p:embeddedFont>
      <p:font typeface="Montserrat SemiBold"/>
      <p:regular r:id="rId34"/>
      <p:bold r:id="rId35"/>
      <p:italic r:id="rId36"/>
      <p:boldItalic r:id="rId37"/>
    </p:embeddedFont>
    <p:embeddedFont>
      <p:font typeface="Montserrat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italic.fntdata"/><Relationship Id="rId20" Type="http://schemas.openxmlformats.org/officeDocument/2006/relationships/slide" Target="slides/slide16.xml"/><Relationship Id="rId41" Type="http://schemas.openxmlformats.org/officeDocument/2006/relationships/font" Target="fonts/Montserrat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MontserratSemiBold-bold.fntdata"/><Relationship Id="rId12" Type="http://schemas.openxmlformats.org/officeDocument/2006/relationships/slide" Target="slides/slide8.xml"/><Relationship Id="rId34" Type="http://schemas.openxmlformats.org/officeDocument/2006/relationships/font" Target="fonts/MontserratSemiBold-regular.fntdata"/><Relationship Id="rId15" Type="http://schemas.openxmlformats.org/officeDocument/2006/relationships/slide" Target="slides/slide11.xml"/><Relationship Id="rId37" Type="http://schemas.openxmlformats.org/officeDocument/2006/relationships/font" Target="fonts/MontserratSemiBold-boldItalic.fntdata"/><Relationship Id="rId14" Type="http://schemas.openxmlformats.org/officeDocument/2006/relationships/slide" Target="slides/slide10.xml"/><Relationship Id="rId36" Type="http://schemas.openxmlformats.org/officeDocument/2006/relationships/font" Target="fonts/MontserratSemiBold-italic.fntdata"/><Relationship Id="rId17" Type="http://schemas.openxmlformats.org/officeDocument/2006/relationships/slide" Target="slides/slide13.xml"/><Relationship Id="rId39" Type="http://schemas.openxmlformats.org/officeDocument/2006/relationships/font" Target="fonts/Montserrat-bold.fntdata"/><Relationship Id="rId16" Type="http://schemas.openxmlformats.org/officeDocument/2006/relationships/slide" Target="slides/slide12.xml"/><Relationship Id="rId38" Type="http://schemas.openxmlformats.org/officeDocument/2006/relationships/font" Target="fonts/Montserrat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169fd9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169fd9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4169fd9ce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4169fd9c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bd885535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bd885535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4169fd9c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4169fd9c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4169fd9c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4169fd9c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bd885535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bd885535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bd885535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bd885535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bd885535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bd885535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bd885535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bd885535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bd885535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bd885535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bd885535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bd885535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4169fd9ce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4169fd9ce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bd885535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bd885535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bd885535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bd885535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bd885535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bd885535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bd885535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bd885535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bd885535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bd885535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bf54f48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bf54f48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4169fd9ce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64169fd9c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f4bde1d12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f4bde1d12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bf54f48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bf54f48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bf54f487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bf54f487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4169fd9c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64169fd9c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4169fd9ce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64169fd9ce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4169fd9ce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64169fd9ce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bf54f487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9bf54f487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64169fd9ce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64169fd9ce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64169fd9c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64169fd9c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4169fd9c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64169fd9c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79525" y="808775"/>
            <a:ext cx="5891100" cy="155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INTRODUCCIÓN A MACHINE LEARNING</a:t>
            </a:r>
            <a:endParaRPr sz="4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08875" y="2733275"/>
            <a:ext cx="181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 1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61" name="Google Shape;61;p14"/>
          <p:cNvSpPr txBox="1"/>
          <p:nvPr/>
        </p:nvSpPr>
        <p:spPr>
          <a:xfrm>
            <a:off x="465875" y="888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Objetivos generales del curso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65875" y="1638700"/>
            <a:ext cx="74124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Montserrat"/>
              <a:buChar char="-"/>
            </a:pPr>
            <a:r>
              <a:rPr i="1" lang="es-419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Fundamentos teóricos:</a:t>
            </a:r>
            <a:r>
              <a:rPr lang="es-419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Introducción a los conceptos básicos de machine learning, incluyendo tipos de algoritmos, técnicas de entrenamiento y evaluación de modelos.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Montserrat"/>
              <a:buChar char="-"/>
            </a:pPr>
            <a:r>
              <a:rPr i="1" lang="es-419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Aplicaciones prácticas: </a:t>
            </a:r>
            <a:r>
              <a:rPr lang="es-419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Exploración de casos de uso de machine learning, destacando cómo se aplican los modelos para resolver problemas específicos.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68" name="Google Shape;68;p15"/>
          <p:cNvSpPr txBox="1"/>
          <p:nvPr/>
        </p:nvSpPr>
        <p:spPr>
          <a:xfrm>
            <a:off x="465875" y="888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Programa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80044" y="821300"/>
            <a:ext cx="75045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Módulo 1. Introducción al machine learning</a:t>
            </a:r>
            <a:endParaRPr b="1" i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Unidad 1. Machine learning y sus aplicaciones 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Unidad 2. Preparando datos para su análisis  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Módulo 2. Aprendizaje supervisado: regresión lineal y logística  </a:t>
            </a:r>
            <a:endParaRPr b="1" i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Unidad 1. Regresión lineal simple y múltiple  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Unidad 2. Regresión logística e indicadores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Módulo 3. Aprendizaje supervisado: árboles de decisión</a:t>
            </a:r>
            <a:endParaRPr b="1" i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Unidad 1. Árboles de decisión 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Unidad 2. Clasificador de árboles y métricas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Módulo 4. Aprendizaje no supervisado </a:t>
            </a:r>
            <a:endParaRPr b="1" i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Unidad 1. K-Means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Unidad 2. Visualización de clústeres y comparativa de modelos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660525" y="813100"/>
            <a:ext cx="71439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Unidad 1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MACHINE LEARNING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Y SUS APLICACIONES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80" name="Google Shape;80;p17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¿Qué es Machine Learning?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465875" y="1258541"/>
            <a:ext cx="74703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(o aprendizaje automático) es una subcategoría de la Inteligencia Artificial.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Idea Central: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Permite que las computadoras aprendan patrones o conductas sin necesidad de ser programadas explícitamente paso a paso para cada tarea.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objetivo es obtener resultados y predicciones a partir de los datos.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87" name="Google Shape;87;p18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¿Qué es Machine Learning?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750" y="836556"/>
            <a:ext cx="7930500" cy="3965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94" name="Google Shape;94;p19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 Poco de Historia (Parte 1)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465875" y="798035"/>
            <a:ext cx="7470300" cy="47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1812 - Teorema de Bayes: 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Define la probabilidad de que ocurra un evento basándose en el conocimiento previo de un evento relacionado. Es la base de muchas técnicas de inferencia.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1940 - Bases de la programación: 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 establecen las bases para que las máquinas sigan secuencias de acciones. Alan Turing se cuestiona si las máquinas pueden "pensar".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1950 - Redes Neuronales: 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 crean las primeras neuronas artificiales. Un programa aprende a sacar una bolita de un laberinto a partir de ejemplos, sin programación previa.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0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01" name="Google Shape;101;p20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 Poco de Historia (Parte 2)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2" name="Google Shape;102;p20"/>
          <p:cNvSpPr txBox="1"/>
          <p:nvPr/>
        </p:nvSpPr>
        <p:spPr>
          <a:xfrm>
            <a:off x="465875" y="798035"/>
            <a:ext cx="74703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1950 – IBM y el juego de Damas: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Creación del primer programa exitoso que aprendía a jugar damas.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1967 – K-Vecinos Más Cercanos (KNN):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Nace el algoritmo Nearest Neighbors, considerado el inicio de los algoritmos de clasificación supervisada.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2003 – Google File System (GFS):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Google presenta un nuevo paradigma de procesamiento distribuido llamado MapReduce, clave para manejar grandes volúmenes de datos.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Actualidad - Asistentes Personales y más: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Siri, Alexa, predicción de enfermedades, segmentación de mercados, optimización de rutas, etc.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1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08" name="Google Shape;108;p21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Ejemplos y algoritmos de aplicación</a:t>
            </a:r>
            <a:endParaRPr sz="30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9" name="Google Shape;109;p21"/>
          <p:cNvSpPr txBox="1"/>
          <p:nvPr/>
        </p:nvSpPr>
        <p:spPr>
          <a:xfrm>
            <a:off x="465875" y="798035"/>
            <a:ext cx="74703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Uber 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Google Search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Recomendaciones de Netflix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Detección de fraudes en tarjetas de crédito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Reconocimiento facial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Diagnósticos médicos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Vehículos autónomos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Predicción del clima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Genética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Identificación de clientes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otros ejemplos se les ocurren?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4550" y="2597263"/>
            <a:ext cx="1363251" cy="47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6075" y="1924463"/>
            <a:ext cx="1700208" cy="57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06075" y="3147138"/>
            <a:ext cx="1700200" cy="85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18" name="Google Shape;118;p22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Ejemplos y algoritmos de aplicación</a:t>
            </a:r>
            <a:endParaRPr sz="30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0500" y="920320"/>
            <a:ext cx="3982997" cy="398299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ctrTitle"/>
          </p:nvPr>
        </p:nvSpPr>
        <p:spPr>
          <a:xfrm>
            <a:off x="308875" y="535875"/>
            <a:ext cx="6609000" cy="155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SUPERVISADO</a:t>
            </a:r>
            <a:endParaRPr sz="3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30" name="Google Shape;130;p24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Supervisado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1" name="Google Shape;131;p24"/>
          <p:cNvSpPr txBox="1"/>
          <p:nvPr/>
        </p:nvSpPr>
        <p:spPr>
          <a:xfrm>
            <a:off x="465875" y="875967"/>
            <a:ext cx="74703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es?: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Ayuda a resolver problemas conocidos.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¿Cómo funciona?: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Utiliza conjuntos de datos previamente etiquetados para entrenar un algoritmo.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objetivo: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algoritmo aprende de los datos históricos para luego aplicar ese conocimiento a datos nuevos y predecir la salida correcta.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Analogía de la Vida Cotidiana: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Cuando un niño aprende a diferenciar un perro de un gato. Los padres le dan la "etiqueta": "Ese es un perro." o "No, eso no es un perro, es un gato." El niño (el algoritmo) aprende a relacionar las características del animal con la etiqueta correcta.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37" name="Google Shape;137;p25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Supervisado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465875" y="1506800"/>
            <a:ext cx="3993900" cy="22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Problemas de clasificación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Necesitan predecir </a:t>
            </a:r>
            <a:r>
              <a:rPr lang="es-419" sz="15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clase más probable de un elemento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en función de un conjunto de variables de entrada. Para este tipo de algoritmos, la variable target o dependiente, </a:t>
            </a:r>
            <a:r>
              <a:rPr lang="es-419" sz="15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una variable de tipo categórica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4681800" y="1506800"/>
            <a:ext cx="39939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Problemas de regresión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 vez de predecir categorías, </a:t>
            </a:r>
            <a:r>
              <a:rPr lang="es-419" sz="15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predicen valores numéricos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 Es decir, la variable target en un problema de regresión </a:t>
            </a:r>
            <a:r>
              <a:rPr lang="es-419" sz="15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de tipo cuantitativa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6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45" name="Google Shape;145;p26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Supervisado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465875" y="968068"/>
            <a:ext cx="7470300" cy="3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Ejemplos de Clasificación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Predicción comportamiento de clientes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Clasificación de documentos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Categorización de productos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Fraude en tarjetas de crédito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Evaluación de solvencia crediticia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Clasificación de enfermedades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Análisis de sentimiento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1575" y="1165450"/>
            <a:ext cx="2931625" cy="141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9120" y="2637802"/>
            <a:ext cx="4407526" cy="24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7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54" name="Google Shape;154;p27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Supervisado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465875" y="968068"/>
            <a:ext cx="7470300" cy="3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Ejemplos de Regresión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Precio de las acciones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Ventas de productos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Tasa de rotación de empleados 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Optimización de tiempos para procesos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Estrategias de precio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Optimización de inventario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●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Evaluación de riesgo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9825" y="983825"/>
            <a:ext cx="3615175" cy="19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1051" y="2972025"/>
            <a:ext cx="4171299" cy="21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8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63" name="Google Shape;163;p28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Supervisado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465875" y="875967"/>
            <a:ext cx="74703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Consideraciones del Aprendizaje Supervisado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 necesita la intervención humana para etiquetar y clasificar los datos de entrenamiento.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algoritmo genera datos de salida esperados, ya que las entradas fueron previamente clasificadas.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¡CUIDADO!: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Si las etiquetas de los datos de entrenamiento son incorrectas, la máquina aprenderá de manera errónea y los resultados serán incorrectos.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ctrTitle"/>
          </p:nvPr>
        </p:nvSpPr>
        <p:spPr>
          <a:xfrm>
            <a:off x="308875" y="535875"/>
            <a:ext cx="6609000" cy="155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NO SUPERVISADO</a:t>
            </a:r>
            <a:endParaRPr sz="3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0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75" name="Google Shape;175;p30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No Supervisado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6" name="Google Shape;176;p30"/>
          <p:cNvSpPr txBox="1"/>
          <p:nvPr/>
        </p:nvSpPr>
        <p:spPr>
          <a:xfrm>
            <a:off x="465875" y="875967"/>
            <a:ext cx="74703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es?: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Ayuda a resolver problemas desconocidos.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¿Cómo funciona?: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Utiliza conjuntos de datos sin etiquetar. El algoritmo debe encontrar por sí mismo similitudes, agrupaciones y relaciones en los datos.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objetivo: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Descubrir la estructura oculta en los datos.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Analogía de la Vida Cotidiana: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 niño prueba distintas verduras verdes y decide que no le gustan. Nadie le dijo "las verduras verdes no te gustan". Él mismo agrupó los alimentos por una característica (el color) y les asignó su propia etiqueta ("no me gusta").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1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82" name="Google Shape;182;p31"/>
          <p:cNvSpPr txBox="1"/>
          <p:nvPr/>
        </p:nvSpPr>
        <p:spPr>
          <a:xfrm>
            <a:off x="465875" y="1506800"/>
            <a:ext cx="36939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Problemas de clustering 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Asignación de </a:t>
            </a:r>
            <a:r>
              <a:rPr lang="es-419" sz="15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individuos/objetos a grupos homogéneos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asegurando mínima varianza intra-cluster y máxima varianza inter-cluster </a:t>
            </a:r>
            <a:r>
              <a:rPr lang="es-419" sz="15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intentando descubrir la estructura oculta de los objetos</a:t>
            </a:r>
            <a:endParaRPr sz="1500" u="sng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31"/>
          <p:cNvSpPr txBox="1"/>
          <p:nvPr/>
        </p:nvSpPr>
        <p:spPr>
          <a:xfrm>
            <a:off x="4681800" y="1506800"/>
            <a:ext cx="3693900" cy="22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Problemas de reducción de dimensionalidad</a:t>
            </a:r>
            <a:b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Cuyo propósito es </a:t>
            </a:r>
            <a:r>
              <a:rPr lang="es-419" sz="15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reducir el número de features (variables)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por medio de </a:t>
            </a:r>
            <a:r>
              <a:rPr lang="es-419" sz="15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 selection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(selección de características) o </a:t>
            </a:r>
            <a:r>
              <a:rPr lang="es-419" sz="15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 extraction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(combinación de datos originales)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31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No Supervisado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/>
        </p:nvSpPr>
        <p:spPr>
          <a:xfrm>
            <a:off x="465875" y="1953000"/>
            <a:ext cx="48330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Sistemas de recomendación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Estudios clínicos sobre enfermedades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Segmentación de clientes y mercados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Biología: para agrupación genética y de especies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0" name="Google Shape;19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8900" y="1371363"/>
            <a:ext cx="3887225" cy="1738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8900" y="3441449"/>
            <a:ext cx="3887224" cy="17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2"/>
          <p:cNvSpPr txBox="1"/>
          <p:nvPr>
            <p:ph idx="4294967295" type="ctrTitle"/>
          </p:nvPr>
        </p:nvSpPr>
        <p:spPr>
          <a:xfrm>
            <a:off x="465875" y="447225"/>
            <a:ext cx="73404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7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no supervisado</a:t>
            </a:r>
            <a:endParaRPr sz="27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7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Ejemplos de clustering</a:t>
            </a:r>
            <a:endParaRPr sz="27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3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98" name="Google Shape;198;p33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No Supervisado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9" name="Google Shape;199;p33"/>
          <p:cNvSpPr txBox="1"/>
          <p:nvPr/>
        </p:nvSpPr>
        <p:spPr>
          <a:xfrm>
            <a:off x="465875" y="1190943"/>
            <a:ext cx="747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Reducir el tiempo de entrenamiento de los modelos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Ahorrar recursos computacionales al entrenar modelos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Mejorar la precisión de los modelos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0" name="Google Shape;20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3340" y="2708387"/>
            <a:ext cx="4609776" cy="18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4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06" name="Google Shape;206;p34"/>
          <p:cNvSpPr txBox="1"/>
          <p:nvPr>
            <p:ph type="ctrTitle"/>
          </p:nvPr>
        </p:nvSpPr>
        <p:spPr>
          <a:xfrm>
            <a:off x="465875" y="-6196"/>
            <a:ext cx="73404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No Supervisado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7" name="Google Shape;207;p34"/>
          <p:cNvSpPr txBox="1"/>
          <p:nvPr/>
        </p:nvSpPr>
        <p:spPr>
          <a:xfrm>
            <a:off x="465875" y="875967"/>
            <a:ext cx="74703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Desventajas del Aprendizaje No Supervisado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salida de datos no es etiquetada y no se conoce de antemano, por lo que no se puede obtener información precisa sobre la clasificación de datos.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Generalmente hay una menor precisión en los resultados, ya que la máquina debe interpretar los datos por sí misma.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usuario (Data Scientist) necesita dedicar tiempo y tener experiencia en el negocio para interpretar y etiquetar las clases o grupos que el algoritmo ha encontrado.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ctrTitle"/>
          </p:nvPr>
        </p:nvSpPr>
        <p:spPr>
          <a:xfrm>
            <a:off x="308875" y="535875"/>
            <a:ext cx="6609000" cy="155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COMPARACIÓN</a:t>
            </a:r>
            <a:endParaRPr sz="3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6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18" name="Google Shape;218;p36"/>
          <p:cNvSpPr txBox="1"/>
          <p:nvPr>
            <p:ph type="ctrTitle"/>
          </p:nvPr>
        </p:nvSpPr>
        <p:spPr>
          <a:xfrm>
            <a:off x="465875" y="-1001"/>
            <a:ext cx="7956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Comparación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descr="Diferencia entre aprendizaje supervisado y no supervisado - 🤖 Aprende IA" id="219" name="Google Shape;21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9475" y="1097850"/>
            <a:ext cx="5911176" cy="3753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7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25" name="Google Shape;225;p37"/>
          <p:cNvSpPr txBox="1"/>
          <p:nvPr>
            <p:ph type="ctrTitle"/>
          </p:nvPr>
        </p:nvSpPr>
        <p:spPr>
          <a:xfrm>
            <a:off x="465875" y="-1001"/>
            <a:ext cx="7956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Comparación</a:t>
            </a:r>
            <a:endParaRPr sz="3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26" name="Google Shape;22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75" y="1184563"/>
            <a:ext cx="8316499" cy="3079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8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32" name="Google Shape;232;p38"/>
          <p:cNvSpPr txBox="1"/>
          <p:nvPr>
            <p:ph type="ctrTitle"/>
          </p:nvPr>
        </p:nvSpPr>
        <p:spPr>
          <a:xfrm>
            <a:off x="465875" y="-6200"/>
            <a:ext cx="7369800" cy="17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¿Qué tipo de aprendizaje es, supervisado (clasificación o regresión) o no supervisado (clustering o reducción de dimensionalidad)?</a:t>
            </a:r>
            <a:endParaRPr sz="25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3" name="Google Shape;233;p38"/>
          <p:cNvSpPr txBox="1"/>
          <p:nvPr/>
        </p:nvSpPr>
        <p:spPr>
          <a:xfrm>
            <a:off x="465875" y="1912880"/>
            <a:ext cx="74703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Verificar correos electrónicos como spam o no spam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Predicción de precios de viviendas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Agrupación de genes en bioinformática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Verificar frutas como manzanas o naranjas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Reducción de características para mejorar la eficiencia del modelo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9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39" name="Google Shape;239;p39"/>
          <p:cNvSpPr txBox="1"/>
          <p:nvPr>
            <p:ph type="ctrTitle"/>
          </p:nvPr>
        </p:nvSpPr>
        <p:spPr>
          <a:xfrm>
            <a:off x="465875" y="6084"/>
            <a:ext cx="83217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Resumen de la clase</a:t>
            </a:r>
            <a:endParaRPr sz="30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0" name="Google Shape;240;p39"/>
          <p:cNvSpPr txBox="1"/>
          <p:nvPr/>
        </p:nvSpPr>
        <p:spPr>
          <a:xfrm>
            <a:off x="465875" y="1112100"/>
            <a:ext cx="65964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es Machine Learning?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Historia de la IA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Ejemplos de aplicación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Aprendizaje supervisado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Aprendizaje no supervisado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Comparación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 txBox="1"/>
          <p:nvPr>
            <p:ph type="ctrTitle"/>
          </p:nvPr>
        </p:nvSpPr>
        <p:spPr>
          <a:xfrm>
            <a:off x="660525" y="508300"/>
            <a:ext cx="7963800" cy="16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¿Consultas?</a:t>
            </a:r>
            <a:endParaRPr sz="34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type="ctrTitle"/>
          </p:nvPr>
        </p:nvSpPr>
        <p:spPr>
          <a:xfrm>
            <a:off x="660525" y="508300"/>
            <a:ext cx="7963800" cy="16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¡Muchas gracias!</a:t>
            </a:r>
            <a:endParaRPr sz="34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