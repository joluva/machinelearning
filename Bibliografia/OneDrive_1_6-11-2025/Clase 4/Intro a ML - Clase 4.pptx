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y="5143500" cx="9144000"/>
  <p:notesSz cx="6858000" cy="9144000"/>
  <p:embeddedFontLst>
    <p:embeddedFont>
      <p:font typeface="Montserrat SemiBold"/>
      <p:regular r:id="rId43"/>
      <p:bold r:id="rId44"/>
      <p:italic r:id="rId45"/>
      <p:boldItalic r:id="rId46"/>
    </p:embeddedFont>
    <p:embeddedFont>
      <p:font typeface="Montserrat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font" Target="fonts/MontserratSemiBold-bold.fntdata"/><Relationship Id="rId43" Type="http://schemas.openxmlformats.org/officeDocument/2006/relationships/font" Target="fonts/MontserratSemiBold-regular.fntdata"/><Relationship Id="rId46" Type="http://schemas.openxmlformats.org/officeDocument/2006/relationships/font" Target="fonts/MontserratSemiBold-boldItalic.fntdata"/><Relationship Id="rId45" Type="http://schemas.openxmlformats.org/officeDocument/2006/relationships/font" Target="fonts/MontserratSemiBold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Montserrat-bold.fntdata"/><Relationship Id="rId47" Type="http://schemas.openxmlformats.org/officeDocument/2006/relationships/font" Target="fonts/Montserrat-regular.fntdata"/><Relationship Id="rId49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0" Type="http://schemas.openxmlformats.org/officeDocument/2006/relationships/font" Target="fonts/Montserrat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4169fd9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4169fd9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4169fd9ce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4169fd9c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64169fd9c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64169fd9c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f0fcf051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f0fcf051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f0fcf051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f0fcf051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fc06c2a6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6fc06c2a6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fc06c2a6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fc06c2a6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fc06c2a6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6fc06c2a6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fc06c2a6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fc06c2a6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fc06c2a6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fc06c2a6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09a8e0fd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09a8e0fd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09a8e0fdf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09a8e0fdf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09a8e0fdf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09a8e0fdf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09a8e0fdf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09a8e0fdf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09a8e0fdf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09a8e0fdf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09a8e0fdf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09a8e0fdf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bd885535d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9bd885535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e9af7182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9e9af7182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09a8e0fdf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09a8e0fdf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09a8e0fdf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09a8e0fdf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0e601bd58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0e601bd58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0e601bd58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0e601bd58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0e601bd58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0e601bd58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0e601bd58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a0e601bd58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0e601bd58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a0e601bd58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0e601bd58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a0e601bd58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0e601bd58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a0e601bd58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a0e601bd58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a0e601bd58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0e601bd58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a0e601bd58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a0e601bd58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a0e601bd58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0e601bd58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a0e601bd58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0e601bd58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a0e601bd58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0e601bd58_1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a0e601bd58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0e601bd58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a0e601bd58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0e601bd58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a0e601bd58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64169fd9ce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64169fd9ce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64169fd9c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64169fd9c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64169fd9c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64169fd9c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79525" y="808775"/>
            <a:ext cx="5891100" cy="1555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INTRODUCCIÓN A MACHINE LEARNING</a:t>
            </a:r>
            <a:endParaRPr sz="4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08875" y="2733275"/>
            <a:ext cx="1811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Módulo 2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61" name="Google Shape;61;p14"/>
          <p:cNvSpPr txBox="1"/>
          <p:nvPr/>
        </p:nvSpPr>
        <p:spPr>
          <a:xfrm>
            <a:off x="465875" y="888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Clase pasada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65875" y="1112100"/>
            <a:ext cx="65964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Librería Scikit Learn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Sklearn Clasificación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Sklearn Regresión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Sklearn Clustering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Sklearn Reducción de Dimensionalidad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Regresión Lineal Simple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000"/>
              <a:buFont typeface="Montserrat"/>
              <a:buChar char="-"/>
            </a:pPr>
            <a:r>
              <a:rPr lang="es-419" sz="2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Regresión Lineal Múltiple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0850" y="862809"/>
            <a:ext cx="1890627" cy="1020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 rotWithShape="1">
          <a:blip r:embed="rId5">
            <a:alphaModFix/>
          </a:blip>
          <a:srcRect b="0" l="14572" r="14202" t="8003"/>
          <a:stretch/>
        </p:blipFill>
        <p:spPr>
          <a:xfrm>
            <a:off x="7227250" y="3526250"/>
            <a:ext cx="1337825" cy="1368652"/>
          </a:xfrm>
          <a:prstGeom prst="rect">
            <a:avLst/>
          </a:prstGeom>
          <a:noFill/>
          <a:ln>
            <a:noFill/>
          </a:ln>
          <a:effectLst>
            <a:outerShdw blurRad="36962" rotWithShape="0" algn="bl" dir="5400000" dist="12321">
              <a:srgbClr val="000000">
                <a:alpha val="50000"/>
              </a:srgbClr>
            </a:outerShdw>
          </a:effectLst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6">
            <a:alphaModFix/>
          </a:blip>
          <a:srcRect b="4871" l="5365" r="0" t="12271"/>
          <a:stretch/>
        </p:blipFill>
        <p:spPr>
          <a:xfrm>
            <a:off x="7130850" y="2129713"/>
            <a:ext cx="1530625" cy="1211875"/>
          </a:xfrm>
          <a:prstGeom prst="rect">
            <a:avLst/>
          </a:prstGeom>
          <a:noFill/>
          <a:ln>
            <a:noFill/>
          </a:ln>
          <a:effectLst>
            <a:outerShdw blurRad="36962" rotWithShape="0" algn="bl" dir="5400000" dist="12321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/>
        </p:nvSpPr>
        <p:spPr>
          <a:xfrm>
            <a:off x="660525" y="813100"/>
            <a:ext cx="7143900" cy="1628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Unidad 2</a:t>
            </a:r>
            <a:endParaRPr sz="3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REGRESIÓN LOGÍSTICA</a:t>
            </a:r>
            <a:endParaRPr sz="3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 INDICADORES</a:t>
            </a:r>
            <a:endParaRPr sz="3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ctrTitle"/>
          </p:nvPr>
        </p:nvSpPr>
        <p:spPr>
          <a:xfrm>
            <a:off x="308875" y="535875"/>
            <a:ext cx="6609000" cy="155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DIVISIÓN DE DATOS</a:t>
            </a:r>
            <a:endParaRPr sz="3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81" name="Google Shape;81;p17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División de datos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465875" y="734272"/>
            <a:ext cx="7470300" cy="42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¿Por qué dividir nuestros datos?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Objetivo: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Evaluar si nuestro modelo puede generalizar, es decir, hacer predicciones correctas sobre datos que nunca ha visto.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Muestra de entrenamiento (Train Set):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Son los "ejercicios de práctica" con las respuestas.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Usamos esto para que el modelo "aprenda" los patrones (ej. 80% de los datos).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Muestra de testeo (Test Set):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el "examen final", guardado bajo llave.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Usamos esto una sola vez al final para evaluar el rendimiento real del modelo (ej. 20% de los datos).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Consecuencia: Evitamos el sobreajuste (overfitting).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88" name="Google Shape;88;p18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División de datos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465875" y="734272"/>
            <a:ext cx="74703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Para preparar los datos para un modelo, seguimos dos pasos de división: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Paso 1: Primera división (Separar X e y)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Separamos nuestro DataFrame completo en dos partes: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Las features (variables predictoras o "entradas").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y: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El target (variable objetivo o "respuesta").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4">
            <a:alphaModFix/>
          </a:blip>
          <a:srcRect b="2872" l="0" r="0" t="2025"/>
          <a:stretch/>
        </p:blipFill>
        <p:spPr>
          <a:xfrm>
            <a:off x="2285425" y="3012175"/>
            <a:ext cx="1247775" cy="2038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91" name="Google Shape;91;p18"/>
          <p:cNvPicPr preferRelativeResize="0"/>
          <p:nvPr/>
        </p:nvPicPr>
        <p:blipFill rotWithShape="1">
          <a:blip r:embed="rId5">
            <a:alphaModFix/>
          </a:blip>
          <a:srcRect b="8558" l="4711" r="3266" t="0"/>
          <a:stretch/>
        </p:blipFill>
        <p:spPr>
          <a:xfrm>
            <a:off x="4574325" y="3012175"/>
            <a:ext cx="1437400" cy="2038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92" name="Google Shape;92;p18"/>
          <p:cNvSpPr/>
          <p:nvPr/>
        </p:nvSpPr>
        <p:spPr>
          <a:xfrm>
            <a:off x="3636199" y="3794225"/>
            <a:ext cx="840900" cy="4740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98" name="Google Shape;98;p19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División de datos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465875" y="734272"/>
            <a:ext cx="74703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Paso 2: Segunda división (Separar Train y Test)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Usamos </a:t>
            </a:r>
            <a:r>
              <a:rPr b="1" lang="es-419" sz="160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train_test_split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para dividir X e y en 4 conjuntos: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X_train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(Features de entrenamiento)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X_test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(Features de testeo)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y_train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(Target de entrenamiento)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y_test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(Target de testeo)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6325" y="1746286"/>
            <a:ext cx="1485900" cy="2381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01" name="Google Shape;101;p19"/>
          <p:cNvPicPr preferRelativeResize="0"/>
          <p:nvPr/>
        </p:nvPicPr>
        <p:blipFill rotWithShape="1">
          <a:blip r:embed="rId5">
            <a:alphaModFix/>
          </a:blip>
          <a:srcRect b="8558" l="4711" r="3266" t="0"/>
          <a:stretch/>
        </p:blipFill>
        <p:spPr>
          <a:xfrm>
            <a:off x="5366825" y="1917861"/>
            <a:ext cx="1437400" cy="2038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2" name="Google Shape;102;p19"/>
          <p:cNvSpPr/>
          <p:nvPr/>
        </p:nvSpPr>
        <p:spPr>
          <a:xfrm>
            <a:off x="6861675" y="2699900"/>
            <a:ext cx="577200" cy="4740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08" name="Google Shape;108;p20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División de datos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465875" y="734272"/>
            <a:ext cx="7470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camino completo: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Paso 1: Primera división separar X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(Features)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 y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(Target)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Paso 2: Segunda división (Separar Train y Test)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8950" y="2173616"/>
            <a:ext cx="1485900" cy="23812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11" name="Google Shape;111;p20"/>
          <p:cNvPicPr preferRelativeResize="0"/>
          <p:nvPr/>
        </p:nvPicPr>
        <p:blipFill rotWithShape="1">
          <a:blip r:embed="rId5">
            <a:alphaModFix/>
          </a:blip>
          <a:srcRect b="2872" l="0" r="0" t="2025"/>
          <a:stretch/>
        </p:blipFill>
        <p:spPr>
          <a:xfrm>
            <a:off x="1221000" y="2345180"/>
            <a:ext cx="1247775" cy="2038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12" name="Google Shape;112;p20"/>
          <p:cNvPicPr preferRelativeResize="0"/>
          <p:nvPr/>
        </p:nvPicPr>
        <p:blipFill rotWithShape="1">
          <a:blip r:embed="rId6">
            <a:alphaModFix/>
          </a:blip>
          <a:srcRect b="8558" l="4711" r="3266" t="0"/>
          <a:stretch/>
        </p:blipFill>
        <p:spPr>
          <a:xfrm>
            <a:off x="3509900" y="2345180"/>
            <a:ext cx="1437400" cy="2038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13" name="Google Shape;113;p20"/>
          <p:cNvSpPr/>
          <p:nvPr/>
        </p:nvSpPr>
        <p:spPr>
          <a:xfrm>
            <a:off x="2571774" y="3127230"/>
            <a:ext cx="840900" cy="4740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/>
          <p:nvPr/>
        </p:nvSpPr>
        <p:spPr>
          <a:xfrm>
            <a:off x="5109449" y="3127230"/>
            <a:ext cx="840900" cy="4740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1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20" name="Google Shape;120;p21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División de datos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465875" y="734272"/>
            <a:ext cx="74703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son X e y?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 (Features):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Generalmente en mayúscula porque es una matriz (múltiples columnas).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Son todas las columnas que usamos para predecir.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Ejemplo: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'Edad', 'Años de experiencia', 'Nivel de educación'.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 (Target):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Generalmente en minúscula porque es un vector (una sola columna).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la columna que queremos predecir.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'Salario' (en Regresión) o 'tiene diabetes' (en Clasificación).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2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27" name="Google Shape;127;p22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División de datos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465875" y="734272"/>
            <a:ext cx="747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465875" y="734272"/>
            <a:ext cx="7470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Montserrat"/>
              <a:buChar char="-"/>
            </a:pPr>
            <a:r>
              <a:rPr b="1" lang="es-419" sz="1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Pasamos a Google Colab</a:t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8663" y="1134472"/>
            <a:ext cx="5886664" cy="3627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3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36" name="Google Shape;136;p23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División de datos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7" name="Google Shape;137;p23"/>
          <p:cNvSpPr txBox="1"/>
          <p:nvPr/>
        </p:nvSpPr>
        <p:spPr>
          <a:xfrm>
            <a:off x="465875" y="734272"/>
            <a:ext cx="74703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función </a:t>
            </a:r>
            <a:r>
              <a:rPr b="1" lang="es-419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train_test_split</a:t>
            </a:r>
            <a:endParaRPr b="1">
              <a:solidFill>
                <a:srgbClr val="434343"/>
              </a:solidFill>
              <a:highlight>
                <a:srgbClr val="B7B7B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la herramienta estándar de Scikit-Learn para dividir nuestros datos.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hace?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Toma nuestros conjuntos X e y completos y los divide en 4 nuevos conjuntos: 2 de entrenamiento y 2 de testeo.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2366" y="3079998"/>
            <a:ext cx="1230946" cy="1972670"/>
          </a:xfrm>
          <a:prstGeom prst="rect">
            <a:avLst/>
          </a:prstGeom>
          <a:noFill/>
          <a:ln>
            <a:noFill/>
          </a:ln>
          <a:effectLst>
            <a:outerShdw blurRad="47344" rotWithShape="0" algn="bl" dir="5400000" dist="15781">
              <a:srgbClr val="000000">
                <a:alpha val="50000"/>
              </a:srgbClr>
            </a:outerShdw>
          </a:effectLst>
        </p:spPr>
      </p:pic>
      <p:pic>
        <p:nvPicPr>
          <p:cNvPr id="139" name="Google Shape;139;p23"/>
          <p:cNvPicPr preferRelativeResize="0"/>
          <p:nvPr/>
        </p:nvPicPr>
        <p:blipFill rotWithShape="1">
          <a:blip r:embed="rId5">
            <a:alphaModFix/>
          </a:blip>
          <a:srcRect b="8558" l="4711" r="3266" t="0"/>
          <a:stretch/>
        </p:blipFill>
        <p:spPr>
          <a:xfrm>
            <a:off x="2900688" y="3222126"/>
            <a:ext cx="1190768" cy="1688399"/>
          </a:xfrm>
          <a:prstGeom prst="rect">
            <a:avLst/>
          </a:prstGeom>
          <a:noFill/>
          <a:ln>
            <a:noFill/>
          </a:ln>
          <a:effectLst>
            <a:outerShdw blurRad="47344" rotWithShape="0" algn="bl" dir="5400000" dist="15781">
              <a:srgbClr val="000000">
                <a:alpha val="50000"/>
              </a:srgbClr>
            </a:outerShdw>
          </a:effectLst>
        </p:spPr>
      </p:pic>
      <p:sp>
        <p:nvSpPr>
          <p:cNvPr id="140" name="Google Shape;140;p23"/>
          <p:cNvSpPr/>
          <p:nvPr/>
        </p:nvSpPr>
        <p:spPr>
          <a:xfrm>
            <a:off x="4225783" y="3869991"/>
            <a:ext cx="696600" cy="3927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chemeClr val="dk2"/>
          </a:solidFill>
          <a:ln cap="flat" cmpd="sng" w="7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47344" rotWithShape="0" algn="bl" dir="5400000" dist="15781">
              <a:srgbClr val="000000">
                <a:alpha val="50000"/>
              </a:srgbClr>
            </a:outerShdw>
          </a:effectLst>
        </p:spPr>
        <p:txBody>
          <a:bodyPr anchorCtr="0" anchor="ctr" bIns="75750" lIns="75750" spcFirstLastPara="1" rIns="75750" wrap="square" tIns="75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9"/>
          </a:p>
        </p:txBody>
      </p:sp>
      <p:pic>
        <p:nvPicPr>
          <p:cNvPr id="141" name="Google Shape;141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3163" y="2520363"/>
            <a:ext cx="5286375" cy="4667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4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47" name="Google Shape;147;p24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División de datos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8" name="Google Shape;148;p24"/>
          <p:cNvSpPr txBox="1"/>
          <p:nvPr/>
        </p:nvSpPr>
        <p:spPr>
          <a:xfrm>
            <a:off x="465875" y="734272"/>
            <a:ext cx="7470300" cy="49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función </a:t>
            </a:r>
            <a:r>
              <a:rPr b="1" lang="es-419" sz="135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train_test_split</a:t>
            </a:r>
            <a:r>
              <a:rPr b="1"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devuelve 4 variables en un orden específico:</a:t>
            </a:r>
            <a:endParaRPr b="1" sz="135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432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50"/>
              <a:buFont typeface="Montserrat"/>
              <a:buChar char="-"/>
            </a:pPr>
            <a:r>
              <a:rPr b="1"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X_train: </a:t>
            </a:r>
            <a:r>
              <a:rPr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Features de entrenamiento (ej. 80% de X)</a:t>
            </a:r>
            <a:endParaRPr sz="135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432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50"/>
              <a:buFont typeface="Montserrat"/>
              <a:buChar char="-"/>
            </a:pPr>
            <a:r>
              <a:rPr b="1"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X_test:  </a:t>
            </a:r>
            <a:r>
              <a:rPr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Features de testeo (ej. 20% de X)</a:t>
            </a:r>
            <a:endParaRPr sz="135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432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50"/>
              <a:buFont typeface="Montserrat"/>
              <a:buChar char="-"/>
            </a:pPr>
            <a:r>
              <a:rPr b="1"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y_train: </a:t>
            </a:r>
            <a:r>
              <a:rPr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Target de entrenamiento (ej. 80% de y)</a:t>
            </a:r>
            <a:endParaRPr sz="135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432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50"/>
              <a:buFont typeface="Montserrat"/>
              <a:buChar char="-"/>
            </a:pPr>
            <a:r>
              <a:rPr b="1"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y_test:  </a:t>
            </a:r>
            <a:r>
              <a:rPr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Target de testeo (ej. 20% de y)</a:t>
            </a:r>
            <a:endParaRPr b="1" sz="135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5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X_train, X_test, y_train, y_test = train_test_split(X, y, ...)</a:t>
            </a:r>
            <a:endParaRPr b="1" sz="1350">
              <a:solidFill>
                <a:srgbClr val="434343"/>
              </a:solidFill>
              <a:highlight>
                <a:srgbClr val="B7B7B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Analogía:</a:t>
            </a:r>
            <a:endParaRPr b="1" sz="135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432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50"/>
              <a:buFont typeface="Montserrat"/>
              <a:buChar char="-"/>
            </a:pPr>
            <a:r>
              <a:rPr b="1"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X_train + y_train = </a:t>
            </a:r>
            <a:r>
              <a:rPr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"libro de práctica con respuestas" para el modelo.</a:t>
            </a:r>
            <a:endParaRPr sz="135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432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50"/>
              <a:buFont typeface="Montserrat"/>
              <a:buChar char="-"/>
            </a:pPr>
            <a:r>
              <a:rPr b="1"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X_test = </a:t>
            </a:r>
            <a:r>
              <a:rPr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"examen final" (las preguntas).</a:t>
            </a:r>
            <a:endParaRPr sz="135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432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50"/>
              <a:buFont typeface="Montserrat"/>
              <a:buChar char="-"/>
            </a:pPr>
            <a:r>
              <a:rPr b="1"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y_test = </a:t>
            </a:r>
            <a:r>
              <a:rPr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"hoja de respuestas" que guardamos para calificar el examen del modelo.</a:t>
            </a:r>
            <a:endParaRPr b="1" sz="1350">
              <a:solidFill>
                <a:srgbClr val="434343"/>
              </a:solidFill>
              <a:highlight>
                <a:srgbClr val="B7B7B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5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54" name="Google Shape;154;p25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División de datos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5" name="Google Shape;155;p25"/>
          <p:cNvSpPr txBox="1"/>
          <p:nvPr/>
        </p:nvSpPr>
        <p:spPr>
          <a:xfrm>
            <a:off x="465875" y="734272"/>
            <a:ext cx="74703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Parámetro clave: </a:t>
            </a:r>
            <a:r>
              <a:rPr b="1" lang="es-419" sz="150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test_size </a:t>
            </a: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indica el tamaño de la muestra de testeo.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test_size = 0.2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Significa que el 20% de los datos se usará para TEST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Automáticamnete el 80% restante para TRAIN.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X_train, X_test, y_train, y_test = train_test_split(X, y, test_size=0.2)</a:t>
            </a:r>
            <a:endParaRPr b="1" sz="1500">
              <a:solidFill>
                <a:srgbClr val="434343"/>
              </a:solidFill>
              <a:highlight>
                <a:srgbClr val="B7B7B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34343"/>
              </a:solidFill>
              <a:highlight>
                <a:srgbClr val="B7B7B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Alternativa: </a:t>
            </a:r>
            <a:r>
              <a:rPr b="1" lang="es-419" sz="150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train_size</a:t>
            </a:r>
            <a:endParaRPr b="1" sz="1500">
              <a:solidFill>
                <a:srgbClr val="434343"/>
              </a:solidFill>
              <a:highlight>
                <a:srgbClr val="B7B7B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Podríamos definir train_size=0.8 (80% train) y el resto iría a test.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X_train, X_test, y_train, y_test = train_test_split(X, y, train_size=0.8)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6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61" name="Google Shape;161;p26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División de datos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2" name="Google Shape;162;p26"/>
          <p:cNvSpPr txBox="1"/>
          <p:nvPr/>
        </p:nvSpPr>
        <p:spPr>
          <a:xfrm>
            <a:off x="465875" y="734272"/>
            <a:ext cx="74703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Parámetro clave: </a:t>
            </a:r>
            <a:r>
              <a:rPr b="1" lang="es-419" sz="150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random_state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Este es uno de los parámetros </a:t>
            </a: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más importantes </a:t>
            </a: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para la ciencia de datos.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hace? </a:t>
            </a:r>
            <a:r>
              <a:rPr b="1" lang="es-419" sz="150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train_test_split</a:t>
            </a: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mezcla los datos aleatoriamente (</a:t>
            </a: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shuffle=True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por defecto) antes de partirlos.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random_state</a:t>
            </a: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fija una "</a:t>
            </a: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semilla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" para esa </a:t>
            </a: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aleatoriedad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X_train, X_test, y_train, y_test = train_test_split(X, y, test_size=0.2, </a:t>
            </a:r>
            <a:r>
              <a:rPr b="1" lang="es-419" sz="150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random_state = 28</a:t>
            </a:r>
            <a:r>
              <a:rPr b="1" lang="es-419" sz="160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7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68" name="Google Shape;168;p27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División de datos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9" name="Google Shape;169;p27"/>
          <p:cNvSpPr txBox="1"/>
          <p:nvPr/>
        </p:nvSpPr>
        <p:spPr>
          <a:xfrm>
            <a:off x="465875" y="734272"/>
            <a:ext cx="7470300" cy="45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Parámetro clave: </a:t>
            </a:r>
            <a:r>
              <a:rPr b="1" lang="es-419" sz="135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stratify</a:t>
            </a:r>
            <a:endParaRPr b="1" sz="135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432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50"/>
              <a:buFont typeface="Montserrat"/>
              <a:buChar char="-"/>
            </a:pPr>
            <a:r>
              <a:rPr b="1"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 parámetro avanzado, pero crítico para problemas de </a:t>
            </a:r>
            <a:r>
              <a:rPr b="1"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clasificación</a:t>
            </a:r>
            <a:r>
              <a:rPr b="1"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1" sz="135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Problema: </a:t>
            </a:r>
            <a:r>
              <a:rPr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Imaginemos un </a:t>
            </a:r>
            <a:r>
              <a:rPr b="1"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dataset de fraude</a:t>
            </a:r>
            <a:r>
              <a:rPr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b="1"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95% "No Fraude" y 5% "Fraude"</a:t>
            </a:r>
            <a:r>
              <a:rPr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). Si partimos al azar, </a:t>
            </a:r>
            <a:r>
              <a:rPr b="1"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pasa si en nuestro 20% de test caen (por mala suerte) muy pocos casos de "Fraude"?</a:t>
            </a:r>
            <a:r>
              <a:rPr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test no sería representativo</a:t>
            </a:r>
            <a:r>
              <a:rPr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1" sz="135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4325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50"/>
              <a:buFont typeface="Montserrat"/>
              <a:buChar char="-"/>
            </a:pPr>
            <a:r>
              <a:rPr b="1"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Solución: </a:t>
            </a:r>
            <a:r>
              <a:rPr b="1" lang="es-419" sz="135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stratify = y</a:t>
            </a:r>
            <a:endParaRPr b="1" sz="135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 dice a la función: "</a:t>
            </a:r>
            <a:r>
              <a:rPr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 dividir, asegúrate de que la proporción de clases sea la misma en el conjunto de entrenamiento y en el </a:t>
            </a:r>
            <a:r>
              <a:rPr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conjunto </a:t>
            </a:r>
            <a:r>
              <a:rPr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 testeo que en el dataset original.</a:t>
            </a:r>
            <a:r>
              <a:rPr b="1" lang="es-419" sz="135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"</a:t>
            </a:r>
            <a:endParaRPr b="1" sz="135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35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X_train, X_test, y_train, y_test = train_test_split(X, y, test_size=0.2, random_state = 28, stratify = y)</a:t>
            </a:r>
            <a:endParaRPr b="1" sz="135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8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75" name="Google Shape;175;p28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División de datos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6" name="Google Shape;176;p28"/>
          <p:cNvSpPr txBox="1"/>
          <p:nvPr/>
        </p:nvSpPr>
        <p:spPr>
          <a:xfrm>
            <a:off x="465875" y="734272"/>
            <a:ext cx="747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465875" y="734272"/>
            <a:ext cx="7470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Montserrat"/>
              <a:buChar char="-"/>
            </a:pPr>
            <a:r>
              <a:rPr b="1" lang="es-419" sz="1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Volvemos</a:t>
            </a:r>
            <a:r>
              <a:rPr b="1" lang="es-419" sz="1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 Google Colab</a:t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8" name="Google Shape;17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8663" y="1134472"/>
            <a:ext cx="5886664" cy="3627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ctrTitle"/>
          </p:nvPr>
        </p:nvSpPr>
        <p:spPr>
          <a:xfrm>
            <a:off x="308875" y="535875"/>
            <a:ext cx="6609000" cy="155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ENTRENANDO UN MODELO DE </a:t>
            </a:r>
            <a:r>
              <a:rPr lang="es-419" sz="3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REGRESIÓN LINEAL</a:t>
            </a:r>
            <a:endParaRPr sz="3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0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89" name="Google Shape;189;p30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Entrenando un modelo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0" name="Google Shape;190;p30"/>
          <p:cNvSpPr txBox="1"/>
          <p:nvPr/>
        </p:nvSpPr>
        <p:spPr>
          <a:xfrm>
            <a:off x="465875" y="855700"/>
            <a:ext cx="74703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Repaso rápido: El proceso hasta ahora</a:t>
            </a:r>
            <a:endParaRPr b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Cargamos datos con Pandas: (pd.read_csv)</a:t>
            </a:r>
            <a:endParaRPr b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Separamos X e Y:</a:t>
            </a:r>
            <a:endParaRPr b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 = Features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(columnas de 'Edad' y ‘AñosdeExperiencia’)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 = Target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(columna 'Salario')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Importamos train_test_split y dividimos en Train/Test:</a:t>
            </a:r>
            <a:endParaRPr b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X_train, X_test, y_train, y_test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(80% para train y 20% para test)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Próximo Paso: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Entrenar el modelo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1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196" name="Google Shape;196;p31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Entrenando un modelo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7" name="Google Shape;197;p31"/>
          <p:cNvSpPr txBox="1"/>
          <p:nvPr/>
        </p:nvSpPr>
        <p:spPr>
          <a:xfrm>
            <a:off x="465875" y="855700"/>
            <a:ext cx="74703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Creación y Entrenamiento del Modelo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1. Instanciar el modelo: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Primero, "creamos" el objeto del modelo </a:t>
            </a: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regressor = LinearRegression()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2. Entrenar el modelo (El paso clave):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Usamos el método </a:t>
            </a:r>
            <a:r>
              <a:rPr b="1" lang="es-419" sz="150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.fit()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para "entrenar" el modelo.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 pasamos los datos de práctica (</a:t>
            </a: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X_train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 y las respuestas correctas de esos datos (</a:t>
            </a: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y_train</a:t>
            </a:r>
            <a:r>
              <a:rPr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  <a:endParaRPr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Montserrat"/>
              <a:buChar char="-"/>
            </a:pPr>
            <a:r>
              <a:rPr b="1" lang="es-419" sz="15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modelo "aprende" la relación (la mejor línea recta) entre X e Y.</a:t>
            </a:r>
            <a:endParaRPr b="1" sz="15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8" name="Google Shape;19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0077" y="2297538"/>
            <a:ext cx="3705225" cy="6572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99" name="Google Shape;19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0075" y="4688082"/>
            <a:ext cx="2333125" cy="36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2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05" name="Google Shape;205;p32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El Método .fit()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6" name="Google Shape;206;p32"/>
          <p:cNvSpPr txBox="1"/>
          <p:nvPr/>
        </p:nvSpPr>
        <p:spPr>
          <a:xfrm>
            <a:off x="465875" y="855700"/>
            <a:ext cx="74703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.fit()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es el método de entrenamiento más importante en Scikit-Learn.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hace .fit() internamente?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Busca los patrones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en los datos de entrada (X) para poder predecir la salida (y).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 Regresión Lineal: </a:t>
            </a:r>
            <a:r>
              <a:rPr b="1" lang="es-419" sz="160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.fit()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está encontrando los 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valores óptimos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para la 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pendiente (m)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y el 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intercepto (b)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en la ecuación Y = mX + b.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objetivo es encontrar 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línea que tenga el menor error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(la menor distancia) con respecto a todos los puntos de datos de entrenamiento.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33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12" name="Google Shape;212;p33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Visualizando el aprendizaje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3" name="Google Shape;213;p33"/>
          <p:cNvSpPr txBox="1"/>
          <p:nvPr/>
        </p:nvSpPr>
        <p:spPr>
          <a:xfrm>
            <a:off x="465875" y="855700"/>
            <a:ext cx="7470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Una vez entrenado, queremos ver qué aprendió el modelo.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Vamos a graficar: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Los 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datos reales de entrenamiento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(X_train, y_train) como puntos.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Montserrat"/>
              <a:buChar char="-"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línea de predicción del modelo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es-419" sz="160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regressor.predict(X_train)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 como una línea.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4" name="Google Shape;21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4825" y="2730225"/>
            <a:ext cx="4221728" cy="2074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15" name="Google Shape;21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0950" y="2730225"/>
            <a:ext cx="2684781" cy="2074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4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21" name="Google Shape;221;p34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Visualizando el aprendizaje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22" name="Google Shape;222;p34"/>
          <p:cNvSpPr txBox="1"/>
          <p:nvPr/>
        </p:nvSpPr>
        <p:spPr>
          <a:xfrm>
            <a:off x="465875" y="855700"/>
            <a:ext cx="59409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Interpretando la Gráfica de Train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Puntos Rojos: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Son los datos reales que el modelo usó para aprender.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Línea Azul: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la mejor recta que el modelo pudo encontrar para ajustarse a esos puntos.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Análisis: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Puntos cercanos a la línea: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El modelo predijo muy bien ese caso.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Puntos lejanos a la línea: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El modelo "erró" en esa predicción. La distancia vertical entre el punto y la línea se llama "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residuo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" o "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error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".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Vemos que el modelo aprendió una tendencia positiva clara: 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más experiencia, más salario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3" name="Google Shape;22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6775" y="1661300"/>
            <a:ext cx="2684781" cy="2074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5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29" name="Google Shape;229;p35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Visualizando la generalización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0" name="Google Shape;230;p35"/>
          <p:cNvSpPr txBox="1"/>
          <p:nvPr/>
        </p:nvSpPr>
        <p:spPr>
          <a:xfrm>
            <a:off x="465875" y="855700"/>
            <a:ext cx="5940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Pregunta Clave: ¿Qué tan bien funciona el modelo con datos que NUNCA ha visto?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Vamos a graficar: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Los datos reales de testeo (X_test, y_test) como puntos.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misma línea de predicción que ya aprendimos.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1" name="Google Shape;23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2675" y="2685750"/>
            <a:ext cx="4457700" cy="18954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32" name="Google Shape;232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8075" y="2685750"/>
            <a:ext cx="2447799" cy="18954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6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38" name="Google Shape;238;p36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Visualizando la generalización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9" name="Google Shape;239;p36"/>
          <p:cNvSpPr txBox="1"/>
          <p:nvPr/>
        </p:nvSpPr>
        <p:spPr>
          <a:xfrm>
            <a:off x="465875" y="855700"/>
            <a:ext cx="59409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Interpretando la gráfica de Test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Puntos Rojos: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Son los datos del "examen final". El modelo nunca los vio.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Línea Azul: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el modelo que entrenamos antes (con los datos de train).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Análisis: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Podemos ver que los puntos de test también caen bastante cerca de la línea que generó el modelo.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Esto es una buena señal. Significa que el modelo generaliza bien. Aprendió el patrón general, no solo memorizó los datos de práctica.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 tan pocos puntos es difícil estar 100% seguros.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0" name="Google Shape;240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9350" y="1885863"/>
            <a:ext cx="2447799" cy="18954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7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46" name="Google Shape;246;p37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El Score (R-cuadrado)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65875" y="855700"/>
            <a:ext cx="74703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Una gráfica es visual, pero necesitamos un número para medir "qué tan bueno" es el modelo.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 </a:t>
            </a: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Regresión Lineal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el método </a:t>
            </a:r>
            <a:r>
              <a:rPr b="1" lang="es-419" sz="1700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.score()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 devuelve la precisión</a:t>
            </a: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Devuelve el Coeficiente de Determinación (R² o R-cuadrado).</a:t>
            </a:r>
            <a:endParaRPr b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8" name="Google Shape;24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6963" y="3194600"/>
            <a:ext cx="4410075" cy="1028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8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54" name="Google Shape;254;p38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El Score (R-cuadrado, R²)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55" name="Google Shape;255;p38"/>
          <p:cNvSpPr txBox="1"/>
          <p:nvPr/>
        </p:nvSpPr>
        <p:spPr>
          <a:xfrm>
            <a:off x="465875" y="855700"/>
            <a:ext cx="74703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es R-cuadrado (R²)?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¡N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 es exactitud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Un R² de 0.96 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significa "acertó el 96% de las predicciones".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Interpretación correcta: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R-cuadrado mide el porcentaje de la varianza (las diferencias) en y (Salario) que es explicado por X (Años de Experiencia), según nuestro modelo.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 R² = 0.96 (o 96%) significa: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96%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de las diferencias que vemos en los salarios de las personas se puede explicar por la diferencia en sus años de experiencia.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4%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restante se debe a otros factores que no están en el modelo (educación, ciudad, habilidades, etc.).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39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61" name="Google Shape;261;p39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El Score (R-cuadrado, R²)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62" name="Google Shape;262;p39"/>
          <p:cNvSpPr txBox="1"/>
          <p:nvPr/>
        </p:nvSpPr>
        <p:spPr>
          <a:xfrm>
            <a:off x="465875" y="734272"/>
            <a:ext cx="747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39"/>
          <p:cNvSpPr txBox="1"/>
          <p:nvPr/>
        </p:nvSpPr>
        <p:spPr>
          <a:xfrm>
            <a:off x="465875" y="734272"/>
            <a:ext cx="7470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Montserrat"/>
              <a:buChar char="-"/>
            </a:pPr>
            <a:r>
              <a:rPr b="1" lang="es-419" sz="1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Pasamos a Google Colab</a:t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4" name="Google Shape;26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8663" y="1134472"/>
            <a:ext cx="5886664" cy="3627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0"/>
          <p:cNvSpPr txBox="1"/>
          <p:nvPr>
            <p:ph type="ctrTitle"/>
          </p:nvPr>
        </p:nvSpPr>
        <p:spPr>
          <a:xfrm>
            <a:off x="308875" y="535875"/>
            <a:ext cx="6609000" cy="155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32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REGRESIÓN LOGÍSTICA</a:t>
            </a:r>
            <a:endParaRPr sz="32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41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75" name="Google Shape;275;p41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Regresión Logística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6" name="Google Shape;276;p41"/>
          <p:cNvSpPr txBox="1"/>
          <p:nvPr/>
        </p:nvSpPr>
        <p:spPr>
          <a:xfrm>
            <a:off x="465875" y="855700"/>
            <a:ext cx="74703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Cambio de Problema: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 Regresión Lineal, predecimos un valor continuo (ej. Salario: 50000, 75000...).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¿Qué pasa si queremos predecir una categoría?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¿Verdadero o Falso?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¿Sí o No?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¿0 o 1?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Ejemplo: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Predecir si un paciente Tiene Diabetes (1) o No tiene Diabetes (0).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Regresión Lineal no sirve, porque podría predecir 1.5, 0.8, o -0.2, lo cual no tiene sentido para una categoría.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42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82" name="Google Shape;282;p42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Regresión Logística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83" name="Google Shape;283;p42"/>
          <p:cNvSpPr txBox="1"/>
          <p:nvPr/>
        </p:nvSpPr>
        <p:spPr>
          <a:xfrm>
            <a:off x="465875" y="855700"/>
            <a:ext cx="74703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¿Cómo funciona la Regresión Logística?</a:t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un 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modelo de 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clasificación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(a pesar de tener "Regresión" en el nombre).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Idea Clave: 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 predice la clase (0 o 1) directamente. Predice la PROBABILIDAD de que la observación pertenezca a la clase "1".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Utiliza una función matemática llamada </a:t>
            </a:r>
            <a:r>
              <a:rPr b="1"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Función Sigmoide (o Logística)</a:t>
            </a:r>
            <a:r>
              <a:rPr lang="es-419" sz="16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para asegurarse de que siempre esté entre 0 y 1 .</a:t>
            </a:r>
            <a:endParaRPr sz="16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43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89" name="Google Shape;289;p43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Regresión Logística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0" name="Google Shape;290;p43"/>
          <p:cNvSpPr txBox="1"/>
          <p:nvPr/>
        </p:nvSpPr>
        <p:spPr>
          <a:xfrm>
            <a:off x="465875" y="855700"/>
            <a:ext cx="54156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 Y (Probabilidad): Va de 0 a 1.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Eje X (Valor del modelo):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 Umbral (Threshold):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Por defecto, usamos un umbral en 0.5 (50% de probabilidad).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 el modelo predice una 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probabilidad &gt; 0.5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➡️ 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Clasificamos como 1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(Sí tiene diabetes).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 el modelo predice una 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probabilidad &lt; 0.5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➡️ 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Clasificamos como 0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(No tiene diabetes).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 el valor es 0.60, es mayor que 0.5, por lo tanto, se etiqueta como "1".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1" name="Google Shape;29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2886" y="1724875"/>
            <a:ext cx="2900514" cy="194871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44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297" name="Google Shape;297;p44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Regresión Logística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98" name="Google Shape;298;p44"/>
          <p:cNvSpPr txBox="1"/>
          <p:nvPr/>
        </p:nvSpPr>
        <p:spPr>
          <a:xfrm>
            <a:off x="465875" y="855700"/>
            <a:ext cx="74703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¿Cómo funciona? =&gt; Fórmula: </a:t>
            </a:r>
            <a:r>
              <a:rPr b="1" lang="es-419">
                <a:solidFill>
                  <a:srgbClr val="434343"/>
                </a:solidFill>
                <a:highlight>
                  <a:srgbClr val="B7B7B7"/>
                </a:highlight>
                <a:latin typeface="Montserrat"/>
                <a:ea typeface="Montserrat"/>
                <a:cs typeface="Montserrat"/>
                <a:sym typeface="Montserrat"/>
              </a:rPr>
              <a:t>Probabilidad = 1 / (1 + e⁻ᶻ)</a:t>
            </a:r>
            <a:endParaRPr b="1">
              <a:solidFill>
                <a:srgbClr val="434343"/>
              </a:solidFill>
              <a:highlight>
                <a:srgbClr val="B7B7B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1-¿Qué es esa 'e'?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2- ¿Qué es 'z'?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1- Se llama "Número de Euler".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una constante matemática, un número que nunca cambia, al igual que Pi (π).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 (π)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vale aprox. 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3.14159...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y es fundamental para los círculos.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'e'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vale aprox. 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2.71828...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y es fundamental para describir el crecimiento, el interés compuesto y los procesos naturales.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 necesitamos saber por qué es 2.718..., solo necesitamos aceptarlo como un número fijo y famoso de las matemáticas, como lo es Pi.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 la fórmula: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e⁻ᶻ significa "el número 'e' (2.718...) elevado a la potencia de -z". Es la parte "exponencial" de la fórmula.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5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304" name="Google Shape;304;p45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Regresión Logística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05" name="Google Shape;305;p45"/>
          <p:cNvSpPr txBox="1"/>
          <p:nvPr/>
        </p:nvSpPr>
        <p:spPr>
          <a:xfrm>
            <a:off x="465875" y="855700"/>
            <a:ext cx="74703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2- ¿Qué es 'z' (El Puntaje)?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'z' es el "puntaje" (o score) que el modelo calcula.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¿Recordemos la fórmula de la Regresión Lineal Simple?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 = mX + b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La Regresión Logística usa esta misma idea, pero la llama 'z':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z = b0 + b1*X1 + b2*X2 + b3*X3 …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b0: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Es el intercepto (o sesgo).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X1, X2, X3...: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Son los datos de una fila (ej. Glucosa, Edad, Presión de un paciente).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b1, b2, b3...: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Son los coeficientes (o pesos) que el modelo aprende durante el entrenamiento (.fit()).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'z' es el resultado de esa fórmula. </a:t>
            </a: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 un número que puede ser positivo o negativo y de cualquier magnitud (puede ser -10, 0, 0.5, o 150).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46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311" name="Google Shape;311;p46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Regresión Logística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12" name="Google Shape;312;p46"/>
          <p:cNvSpPr txBox="1"/>
          <p:nvPr/>
        </p:nvSpPr>
        <p:spPr>
          <a:xfrm>
            <a:off x="465875" y="855700"/>
            <a:ext cx="74703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Uniendo 'z' y 'e': “Comprimimos" esos puntajes z usando la fórmula sigmoide para obtener una probabilidad entre 0 y 1.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Probabilidad = 1 / (1 + e⁻ᶻ)  (Recordando que e ≈ 2.718)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Para un paciente (z = 2):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Prob = </a:t>
            </a: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 / (1 + e⁻ᶻ)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Prob = 1 / (1 + e⁻²)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Prob = 1 / (1 + (1 / e²))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Prob = 1 / (1 + (1 / 2.718²))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Prob = 1 / (1 + (1 / 7.3875))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Prob = 1 / (1 + 0.135)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Prob = 1 / 1.135</a:t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Montserrat"/>
              <a:buChar char="-"/>
            </a:pPr>
            <a:r>
              <a:rPr b="1" lang="es-419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Prob = 0.88</a:t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1275" y="2372875"/>
            <a:ext cx="3982449" cy="25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47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319" name="Google Shape;319;p47"/>
          <p:cNvSpPr txBox="1"/>
          <p:nvPr/>
        </p:nvSpPr>
        <p:spPr>
          <a:xfrm>
            <a:off x="465875" y="-6196"/>
            <a:ext cx="7340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>
                <a:solidFill>
                  <a:srgbClr val="5959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Regresión Logística</a:t>
            </a:r>
            <a:endParaRPr sz="3500">
              <a:solidFill>
                <a:srgbClr val="595959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20" name="Google Shape;320;p47"/>
          <p:cNvSpPr txBox="1"/>
          <p:nvPr/>
        </p:nvSpPr>
        <p:spPr>
          <a:xfrm>
            <a:off x="465875" y="734272"/>
            <a:ext cx="747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47"/>
          <p:cNvSpPr txBox="1"/>
          <p:nvPr/>
        </p:nvSpPr>
        <p:spPr>
          <a:xfrm>
            <a:off x="465875" y="734272"/>
            <a:ext cx="74703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Font typeface="Montserrat"/>
              <a:buChar char="-"/>
            </a:pPr>
            <a:r>
              <a:rPr b="1" lang="es-419" sz="1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Pasamos a Google Colab</a:t>
            </a:r>
            <a:endParaRPr sz="1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2" name="Google Shape;322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8663" y="1134472"/>
            <a:ext cx="5886664" cy="3627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8" title="logo SL 2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6150" y="4541300"/>
            <a:ext cx="1207850" cy="60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3000"/>
              </a:srgbClr>
            </a:outerShdw>
          </a:effectLst>
        </p:spPr>
      </p:pic>
      <p:sp>
        <p:nvSpPr>
          <p:cNvPr id="328" name="Google Shape;328;p48"/>
          <p:cNvSpPr txBox="1"/>
          <p:nvPr>
            <p:ph type="ctrTitle"/>
          </p:nvPr>
        </p:nvSpPr>
        <p:spPr>
          <a:xfrm>
            <a:off x="465875" y="6084"/>
            <a:ext cx="83217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000">
                <a:solidFill>
                  <a:schemeClr val="dk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Resumen de la clase</a:t>
            </a:r>
            <a:endParaRPr sz="300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29" name="Google Shape;329;p48"/>
          <p:cNvSpPr txBox="1"/>
          <p:nvPr/>
        </p:nvSpPr>
        <p:spPr>
          <a:xfrm>
            <a:off x="465875" y="1112100"/>
            <a:ext cx="6596400" cy="3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División de datos</a:t>
            </a:r>
            <a:endParaRPr b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Features y target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train_test_split</a:t>
            </a:r>
            <a:endParaRPr b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X_train, X_test, y_train, y_test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test_size, random_state, stratify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Entrenamiento de un modelo de Regresión Lineal</a:t>
            </a:r>
            <a:endParaRPr b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Visualización del modelo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R-cuadrado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b="1"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Regresión Logística</a:t>
            </a:r>
            <a:endParaRPr b="1"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700"/>
              <a:buFont typeface="Montserrat"/>
              <a:buChar char="-"/>
            </a:pPr>
            <a:r>
              <a:rPr lang="es-419" sz="17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Función Sigmoide</a:t>
            </a:r>
            <a:endParaRPr sz="17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9"/>
          <p:cNvSpPr txBox="1"/>
          <p:nvPr>
            <p:ph type="ctrTitle"/>
          </p:nvPr>
        </p:nvSpPr>
        <p:spPr>
          <a:xfrm>
            <a:off x="660525" y="508300"/>
            <a:ext cx="7963800" cy="162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¿Consultas?</a:t>
            </a:r>
            <a:endParaRPr sz="34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0"/>
          <p:cNvSpPr txBox="1"/>
          <p:nvPr>
            <p:ph type="ctrTitle"/>
          </p:nvPr>
        </p:nvSpPr>
        <p:spPr>
          <a:xfrm>
            <a:off x="660525" y="508300"/>
            <a:ext cx="7963800" cy="162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¡Muchas gracias!</a:t>
            </a:r>
            <a:endParaRPr sz="34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