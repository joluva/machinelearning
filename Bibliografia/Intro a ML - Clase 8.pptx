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6858000" cy="9144000"/>
  <p:embeddedFontLst>
    <p:embeddedFont>
      <p:font typeface="Montserrat SemiBold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20" Type="http://schemas.openxmlformats.org/officeDocument/2006/relationships/slide" Target="slides/slide16.xml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schemas.openxmlformats.org/officeDocument/2006/relationships/font" Target="fonts/Montserrat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MontserratSemiBold-bold.fntdata"/><Relationship Id="rId14" Type="http://schemas.openxmlformats.org/officeDocument/2006/relationships/slide" Target="slides/slide10.xml"/><Relationship Id="rId36" Type="http://schemas.openxmlformats.org/officeDocument/2006/relationships/font" Target="fonts/MontserratSemiBold-regular.fntdata"/><Relationship Id="rId17" Type="http://schemas.openxmlformats.org/officeDocument/2006/relationships/slide" Target="slides/slide13.xml"/><Relationship Id="rId39" Type="http://schemas.openxmlformats.org/officeDocument/2006/relationships/font" Target="fonts/MontserratSemiBold-boldItalic.fntdata"/><Relationship Id="rId16" Type="http://schemas.openxmlformats.org/officeDocument/2006/relationships/slide" Target="slides/slide12.xml"/><Relationship Id="rId38" Type="http://schemas.openxmlformats.org/officeDocument/2006/relationships/font" Target="fonts/MontserratSemiBold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169fd9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169fd9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94a08e1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94a08e1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19f6e248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19f6e248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94a08e14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94a08e14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f0fcf051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f0fcf051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9f6e248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19f6e248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94a08e14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94a08e14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94a08e14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94a08e14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94a08e14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94a08e14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94a08e14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94a08e14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94a08e14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94a08e14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94a08e14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94a08e14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94a08e14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94a08e14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94a08e14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94a08e14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94a08e14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94a08e14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a1561245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a1561245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1561245e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a1561245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a1561245e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a1561245e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a1561245e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a1561245e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a1561245e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a1561245e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1561245e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a1561245e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a1561245e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a1561245e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a1561245e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a1561245e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a1561245e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a1561245e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a1561245e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a1561245e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a1561245e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a1561245e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a1561245e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a1561245e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a1561245e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a1561245e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64169fd9ce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64169fd9ce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4169fd9c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64169fd9c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4169fd9c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64169fd9c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hyperlink" Target="https://www.naftaliharris.com/blog/visualizing-k-means-clustering/" TargetMode="External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hyperlink" Target="https://scikit-learn.org/stable/modules/generated/sklearn.datasets.load_iris.html#sklearn.datasets.load_iris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79525" y="808775"/>
            <a:ext cx="5891100" cy="155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INTRODUCCIÓN A MACHINE LEARNING</a:t>
            </a:r>
            <a:endParaRPr sz="4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60" name="Google Shape;60;p14"/>
          <p:cNvSpPr txBox="1"/>
          <p:nvPr>
            <p:ph type="ctrTitle"/>
          </p:nvPr>
        </p:nvSpPr>
        <p:spPr>
          <a:xfrm>
            <a:off x="465875" y="6084"/>
            <a:ext cx="83217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Clase pasada</a:t>
            </a:r>
            <a:endParaRPr sz="30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465875" y="1112100"/>
            <a:ext cx="65964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Árbol de decisión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Preprocesamiento: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Imputación de nulos y Encoding Categórico.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Entrenamiento: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División de datos y fit().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Análisis de Overfitting: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Comparación de 3 modelos (Base, max_depth=2, max_depth=4).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Evaluación: 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Matriz de Confusión y Métricas Clave.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660525" y="813100"/>
            <a:ext cx="71439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Unidad 1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K-</a:t>
            </a: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MEANS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660525" y="813100"/>
            <a:ext cx="71439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NO SUPERVISADO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77" name="Google Shape;77;p17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K-means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465875" y="928525"/>
            <a:ext cx="74703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●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 el Aprendizaje No Supervisado?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●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Modelos Principales (Clustering y Asociación)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●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Caso Práctico: Evaluando K-Means (Dataset Iris)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●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Visualización y Análisis de Resultados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●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Método del Codo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1511" y="3279250"/>
            <a:ext cx="2440975" cy="17107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85" name="Google Shape;85;p18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no supervisado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465875" y="788650"/>
            <a:ext cx="63714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Hasta ahora, hemos trabajado con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modelos supervisados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(teníamos etiquetas: "Sobrevivió/No Sobrevivió", "Perro/Gato").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¿Pero qué pasa cuando NO tenemos etiquetas?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¿Cómo aprendemos de datos que "nadie nos ha explicado"?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Cuando somos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niños/as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nadie nos da una base de datos etiquetada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de "lo que me gusta".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Simplemente probamos cosas.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 probamos varias verduras verdes y no nos gustan, nuestro cerebro crea un patrón por sí mismo: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Patrón: Cosas verdes -&gt;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Probablemente no me gusten.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Nadie nos dio la etiqueta explícita; la dedujimos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agrupando experiencias similares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 Así funciona el aprendizaje no supervisado.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7175" y="2034325"/>
            <a:ext cx="2218318" cy="132833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93" name="Google Shape;93;p19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no supervisado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465875" y="788650"/>
            <a:ext cx="74703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Aprendizaje no supervisado: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Rama del Machine Learning donde los datos de entrenamiento NO tienen etiquetas.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Objetivo: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Descubrir patrones ocultos, estructuras o agrupaciones intrínsecas en los datos por sí mismos.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diferencia del supervisado (donde hay un "maestro" que dice la respuesta correcta), aquí el algoritmo debe encontrar la respuesta solo.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1963" y="3745675"/>
            <a:ext cx="3100074" cy="13433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0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01" name="Google Shape;101;p20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no supervisado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465875" y="788650"/>
            <a:ext cx="7470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Aplicaciones en la vida real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Los Data Scientists usan esto para encontrar respuestas que no sabían que existían: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Marketing: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Segmentación de clientes (agrupar clientes con comportamientos de compra similares sin conocerlos de antemano).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Biología: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Clasificación de nuevas especies de plantas o animales basadas en características físicas.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Sismología: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Agrupación de epicentros para identificar zonas de fallas desconocidas.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Ciberseguridad: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Detección de anomalías (tráfico de red que "no se parece" al tráfico normal).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1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08" name="Google Shape;108;p21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no supervisado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465875" y="788650"/>
            <a:ext cx="74703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Ventajas: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Puede manejar enormes cantidades de datos (etiquetar datos es caro y lento, recolectar datos sin etiquetas es barato).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Encuentra patrones que los humanos podrían haber pasado por alto.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Desventajas: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Menor precisión (nadie nos dice si la respuesta es "correcta").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Requiere interpretación humana posterior (el algoritmo dice "Grupo 1", pero nosotros debemos averiguar qué significa el Grupo 1).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15" name="Google Shape;115;p22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no supervisado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465875" y="788650"/>
            <a:ext cx="74703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Modelos de 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prendizaje no supervisado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Existen dos tareas principales en este campo: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Agrupación (Clustering):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Organizar objetos en grupos donde los miembros son muy similares entre sí y muy diferentes a los de otros grupos.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Asociación: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Encontrar reglas que describan grandes conjuntos de datos.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 clásico: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"Análisis de la Cesta de Mercado". Si compras Pan -&gt; Probablemente compres Mantequilla.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3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22" name="Google Shape;122;p23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no supervisado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465875" y="788650"/>
            <a:ext cx="7470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K-Means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Concepto: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el algoritmo de clustering más popular. Su objetivo es dividir los datos en grupos (clusters) basándose en su ubicación espacial.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significa la "K"?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 = Número de Grupos.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Debemos decirle al algoritmo cuántos grupos buscar (ej. "Divide estos clientes en K=3 segmentos").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Funcionamiento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(Iterativo):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Coloca K puntos centrales (centroides) al azar.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Asigna cada dato al centroide más cercano.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Mueve el centroide al centro real de sus nuevos "seguidores".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Repite hasta que los grupos se estabilicen.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4575" y="2683271"/>
            <a:ext cx="2831150" cy="1197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30" name="Google Shape;130;p24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no supervisado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1" name="Google Shape;131;p24"/>
          <p:cNvSpPr txBox="1"/>
          <p:nvPr/>
        </p:nvSpPr>
        <p:spPr>
          <a:xfrm>
            <a:off x="465875" y="788650"/>
            <a:ext cx="7470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Clustering Jerárquico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Concepto: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diferencia de K-Means, este algoritmo no intenta separar los datos en círculos, sino entender la estructura anidada de los datos.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Analogía: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Pensemos en las carpetas de la computadora o en la taxonomía biológica (Especie -&gt; Género -&gt; Familia).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Cómo funciona (Aglomerativo):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 principio, cada dato es su propio grupo diminuto.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Busca los dos grupos más cercanos y los fusiona en uno.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Repite hasta que todos los datos forman un solo gran grupo.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Resultado: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 Dendrograma (un diagrama de árbol) que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permite "cortar" los grupos al nivel de detalle que deseemos.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4"/>
          <p:cNvPicPr preferRelativeResize="0"/>
          <p:nvPr/>
        </p:nvPicPr>
        <p:blipFill rotWithShape="1">
          <a:blip r:embed="rId4">
            <a:alphaModFix/>
          </a:blip>
          <a:srcRect b="6812" l="0" r="20590" t="0"/>
          <a:stretch/>
        </p:blipFill>
        <p:spPr>
          <a:xfrm>
            <a:off x="6891650" y="2348525"/>
            <a:ext cx="2136650" cy="206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38" name="Google Shape;138;p25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Aprendizaje no supervisado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465875" y="788650"/>
            <a:ext cx="85002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PCA (Análisis de Componentes Principales)</a:t>
            </a:r>
            <a:endParaRPr b="1" sz="15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Problema: </a:t>
            </a:r>
            <a:r>
              <a:rPr lang="es-419" sz="15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veces tenemos demasiadas variables (ej. 50 columnas).</a:t>
            </a:r>
            <a:endParaRPr sz="15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Esto se llama "</a:t>
            </a:r>
            <a:r>
              <a:rPr lang="es-419" sz="155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maldición de la dimensionalidad</a:t>
            </a:r>
            <a:r>
              <a:rPr lang="es-419" sz="15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".</a:t>
            </a:r>
            <a:endParaRPr sz="15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70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50"/>
              <a:buFont typeface="Montserrat"/>
              <a:buChar char="-"/>
            </a:pPr>
            <a:r>
              <a:rPr lang="es-419" sz="15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Hace que los cálculos sean lentos.</a:t>
            </a:r>
            <a:endParaRPr sz="15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70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50"/>
              <a:buFont typeface="Montserrat"/>
              <a:buChar char="-"/>
            </a:pPr>
            <a:r>
              <a:rPr lang="es-419" sz="15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imposible de visualizar (no podemos ver gráficos de 50 dimensiones).</a:t>
            </a:r>
            <a:endParaRPr sz="15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Solución: </a:t>
            </a:r>
            <a:r>
              <a:rPr lang="es-419" sz="15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PCA (Principal Component Analysis).</a:t>
            </a:r>
            <a:endParaRPr sz="15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Objetivo: </a:t>
            </a:r>
            <a:r>
              <a:rPr lang="es-419" sz="15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"Comprimir" la información. Pasar de 50 variables a solo 2 o 3 "super-variables" (Componentes Principales) que resuman la esencia de los datos originales.</a:t>
            </a:r>
            <a:endParaRPr sz="15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2398" y="3674225"/>
            <a:ext cx="3279199" cy="13971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/>
        </p:nvSpPr>
        <p:spPr>
          <a:xfrm>
            <a:off x="660525" y="813100"/>
            <a:ext cx="71439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K-MEANS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51" name="Google Shape;151;p27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K-Means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465875" y="788650"/>
            <a:ext cx="74703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Caso Práctico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Vamos a poner esto en práctica usando Python y sklearn.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Dataset: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Iris (Flores).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Contenido: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150 flores, 3 tipos (Setosa, Versicolor, Virginica).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Variables: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Largo y ancho del sépalo, largo y ancho del pétalo.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Reto: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¿Puede K-Means agrupar correctamente estas flores sin saber sus especies?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3513" y="3239950"/>
            <a:ext cx="4896976" cy="17559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59" name="Google Shape;159;p28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K-Means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0" name="Google Shape;160;p28"/>
          <p:cNvSpPr txBox="1"/>
          <p:nvPr/>
        </p:nvSpPr>
        <p:spPr>
          <a:xfrm>
            <a:off x="465875" y="788650"/>
            <a:ext cx="7470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Carga y exploración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Importamos librerías (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pandas, sklearn, matplotlib, etc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Cargamos el </a:t>
            </a:r>
            <a:r>
              <a:rPr b="1" lang="es-419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dataset Iris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que viene incluido en sklearn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6713" y="2507000"/>
            <a:ext cx="1571625" cy="5048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2" name="Google Shape;162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0125" y="2149600"/>
            <a:ext cx="2989275" cy="2668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3" name="Google Shape;163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11098" y="3202375"/>
            <a:ext cx="4962850" cy="14484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9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69" name="Google Shape;169;p29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K-Means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465875" y="788650"/>
            <a:ext cx="7470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Visualización Inicial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Antes de modelar, graficamos los datos.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Utilizamos un gráfico (diagrama) de dispersión.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Vemos que hay algunos "grupos" naturales de puntos.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4900" y="2425950"/>
            <a:ext cx="3312054" cy="251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/>
          <p:cNvPicPr preferRelativeResize="0"/>
          <p:nvPr/>
        </p:nvPicPr>
        <p:blipFill rotWithShape="1">
          <a:blip r:embed="rId5">
            <a:alphaModFix/>
          </a:blip>
          <a:srcRect b="1661" l="0" r="635" t="0"/>
          <a:stretch/>
        </p:blipFill>
        <p:spPr>
          <a:xfrm>
            <a:off x="4440525" y="2424670"/>
            <a:ext cx="3312050" cy="2513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0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78" name="Google Shape;178;p30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K-Means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9" name="Google Shape;179;p30"/>
          <p:cNvSpPr txBox="1"/>
          <p:nvPr/>
        </p:nvSpPr>
        <p:spPr>
          <a:xfrm>
            <a:off x="465875" y="788650"/>
            <a:ext cx="74703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Llamar al modelo K-Means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-"/>
            </a:pPr>
            <a:r>
              <a:rPr b="1" lang="es-419" sz="1500">
                <a:solidFill>
                  <a:srgbClr val="666666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from </a:t>
            </a: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sklearn.cluster </a:t>
            </a:r>
            <a:r>
              <a:rPr b="1" lang="es-419" sz="1500">
                <a:solidFill>
                  <a:srgbClr val="666666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import </a:t>
            </a: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KMeans</a:t>
            </a:r>
            <a:endParaRPr b="1" sz="1500">
              <a:solidFill>
                <a:srgbClr val="434343"/>
              </a:solidFill>
              <a:highlight>
                <a:srgbClr val="B7B7B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kmeans = KMeans(</a:t>
            </a:r>
            <a:r>
              <a:rPr b="1" lang="es-419" sz="1500">
                <a:solidFill>
                  <a:srgbClr val="666666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n_clusters</a:t>
            </a: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=5, </a:t>
            </a:r>
            <a:r>
              <a:rPr b="1" lang="es-419" sz="1500">
                <a:solidFill>
                  <a:srgbClr val="666666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n_init</a:t>
            </a: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=10, </a:t>
            </a:r>
            <a:r>
              <a:rPr b="1" lang="es-419" sz="1500">
                <a:solidFill>
                  <a:srgbClr val="666666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random_state</a:t>
            </a: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=42)</a:t>
            </a:r>
            <a:endParaRPr b="1" sz="1500">
              <a:solidFill>
                <a:srgbClr val="434343"/>
              </a:solidFill>
              <a:highlight>
                <a:srgbClr val="B7B7B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Parámetros: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-"/>
            </a:pPr>
            <a:r>
              <a:rPr b="1" lang="es-419" sz="15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n_clusters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=5: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 pedimos que encuentre 5 grupos (para probar).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-"/>
            </a:pPr>
            <a:r>
              <a:rPr b="1" lang="es-419" sz="15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n_init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=10: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K-Means comienza colocando puntos al azar. Si inicia en un mal lugar, el resultado será malo. n_init=10 significa que el algoritmo correrá 10 veces con diferentes inicios aleatorios y automáticamente se quedará con el mejor resultado.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Entrenamiento del modelo: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kmeans.</a:t>
            </a:r>
            <a:r>
              <a:rPr b="1" lang="es-419" sz="1500">
                <a:solidFill>
                  <a:srgbClr val="666666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fit</a:t>
            </a: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(data)</a:t>
            </a:r>
            <a:endParaRPr b="1" sz="1500">
              <a:solidFill>
                <a:srgbClr val="434343"/>
              </a:solidFill>
              <a:highlight>
                <a:srgbClr val="B7B7B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85" name="Google Shape;185;p31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K-Means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6" name="Google Shape;186;p31"/>
          <p:cNvSpPr txBox="1"/>
          <p:nvPr/>
        </p:nvSpPr>
        <p:spPr>
          <a:xfrm>
            <a:off x="465875" y="788650"/>
            <a:ext cx="74703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Revisar Atributos del Modelo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Una vez entrenado, el objeto kmeans tiene información valiosa: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kmeans.cluster_centers_: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 coordenadas (X, Y) de los 5 centroides finales.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kmeans.labels_: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etiqueta (0, 1, 2, 3, 4) asignada a cada flor.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kmeans.inertia_: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Inercia. Es la suma de las distancias al cuadrado de cada punto a su centroide más cercano.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Interpretación: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Mide qué tan "apretados" o cohesivos son los grupos.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hay un "valor bueno" absoluto: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El número depende de la escala de tus datos.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Si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medimos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en metros, inercia = 50. Si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medimos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 centímetros, inercia = 500,000.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Uso Real: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Sirve para comparar (ej. K=3 es mejor que K=2) usando el mismo dataset, no para juzgar el valor aislado.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2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92" name="Google Shape;192;p32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K-Means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3" name="Google Shape;193;p32"/>
          <p:cNvSpPr txBox="1"/>
          <p:nvPr/>
        </p:nvSpPr>
        <p:spPr>
          <a:xfrm>
            <a:off x="465875" y="788650"/>
            <a:ext cx="7470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Asignando los Clusters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Agregamos la predicción a nuestro DataFrame original: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highlight>
                  <a:srgbClr val="999999"/>
                </a:highlight>
                <a:latin typeface="Montserrat"/>
                <a:ea typeface="Montserrat"/>
                <a:cs typeface="Montserrat"/>
                <a:sym typeface="Montserrat"/>
              </a:rPr>
              <a:t>data['Cluster'] = kmeans.labels_</a:t>
            </a:r>
            <a:endParaRPr b="1">
              <a:solidFill>
                <a:srgbClr val="434343"/>
              </a:solidFill>
              <a:highlight>
                <a:srgbClr val="999999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Ahora cada flor tiene un número de grupo asignado por el algoritmo.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4" name="Google Shape;19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7250" y="2481850"/>
            <a:ext cx="6529501" cy="1262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3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00" name="Google Shape;200;p33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K-Means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1" name="Google Shape;201;p33"/>
          <p:cNvSpPr txBox="1"/>
          <p:nvPr/>
        </p:nvSpPr>
        <p:spPr>
          <a:xfrm>
            <a:off x="465875" y="788650"/>
            <a:ext cx="38928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Graficando los Clusters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Volvemos a hacer el gráfico de dispersión (Scatter Plot), pero ahora coloreamos los puntos según su Cluster.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Resultado Visual: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Vemos cómo el algoritmo "cortó" los datos en 5 regiones distintas.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2" name="Google Shape;20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7525" y="866175"/>
            <a:ext cx="4602625" cy="341115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08" name="Google Shape;208;p34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K-Means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9" name="Google Shape;209;p34"/>
          <p:cNvSpPr txBox="1"/>
          <p:nvPr/>
        </p:nvSpPr>
        <p:spPr>
          <a:xfrm>
            <a:off x="465875" y="788650"/>
            <a:ext cx="38928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Análisis Visual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 observar el gráfico coloreado: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¿Tienen sentido los grupos?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¿Están bien separados?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¿Hay grupos que parecen mezclados?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Esto nos permite validar intuitivamente si K=5 fue una buena elección o si deberíamos probar otro número.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0" name="Google Shape;21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7547" y="863450"/>
            <a:ext cx="4602625" cy="34165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/>
        </p:nvSpPr>
        <p:spPr>
          <a:xfrm>
            <a:off x="660525" y="813100"/>
            <a:ext cx="71439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MÉTODO</a:t>
            </a:r>
            <a:endParaRPr sz="3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DEL CODO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6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21" name="Google Shape;221;p36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</a:t>
            </a: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étodo del codo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2" name="Google Shape;222;p36"/>
          <p:cNvSpPr txBox="1"/>
          <p:nvPr/>
        </p:nvSpPr>
        <p:spPr>
          <a:xfrm>
            <a:off x="465875" y="788650"/>
            <a:ext cx="74703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 el aprendizaje supervisado, sabemos cuántas clases hay (ej. "Perro" y "Gato" = 2).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 clustering, NO sabemos cuántos grupos existen en realidad.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Problema: K-Means siempre encontrará los grupos que le pidamos, sean lógicos o no.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 le pedimos K=2, dividirá las flores en 2.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 le pedimos K=100, dividirá las flores en 100.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Pregunta de oro: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¿Cómo encontramos el número perfecto de grupos sin intervención humana?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28" name="Google Shape;228;p37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Método del codo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9" name="Google Shape;229;p37"/>
          <p:cNvSpPr txBox="1"/>
          <p:nvPr/>
        </p:nvSpPr>
        <p:spPr>
          <a:xfrm>
            <a:off x="465875" y="788650"/>
            <a:ext cx="74703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Relación Inercia vs. K (La Trampa)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Podríamos pensar: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"El mejor modelo es el que tiene la menor inercia (grupos más compactos)".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Trampa: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medida que aumentamos K (más grupos), la inercia SIEMPRE disminuye.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 tenemos 150 flores y creamos 150 grupos (K=150), 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cada flor es su propio grupo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distancia de cada flor a su centroide es 0. Inercia = 0.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Esto no sirve.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hemos agrupado nada, solo memorizamos los datos (Overfitting extremo).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35" name="Google Shape;235;p38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Método del codo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6" name="Google Shape;236;p38"/>
          <p:cNvSpPr txBox="1"/>
          <p:nvPr/>
        </p:nvSpPr>
        <p:spPr>
          <a:xfrm>
            <a:off x="465875" y="788650"/>
            <a:ext cx="74703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ley de los rendimientos decrecientes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Debemos buscar un balance entre "grupos compactos" (baja inercia) y "pocos grupos" (simplicidad).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Observación Clave: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Pasar de K=1 a K=2 reduce la inercia drásticamente. (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Gran ganancia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Pasar de K=2 a K=3 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reduce la inercia bastante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Pasar de K=10 a K=11 reduce la inercia muy poco. (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Poca ganancia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9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42" name="Google Shape;242;p39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Método del codo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3" name="Google Shape;243;p39"/>
          <p:cNvSpPr txBox="1"/>
          <p:nvPr/>
        </p:nvSpPr>
        <p:spPr>
          <a:xfrm>
            <a:off x="465875" y="788650"/>
            <a:ext cx="74703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"Método del Codo" (Visualización)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tomar la decisión, graficamos una curva: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 X: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Número de Clusters (K).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 Y: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Inercia (Distancia intra-cluster).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Analogía: La curva se parece a un brazo humano flexionado.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Hombro: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Inercia muy alta (K=1).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Codo: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punto de quiebre óptimo.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Muñeca/Mano: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Inercia baja, pero demasiados grupos.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40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49" name="Google Shape;249;p40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5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Método del codo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0" name="Google Shape;250;p40"/>
          <p:cNvSpPr txBox="1"/>
          <p:nvPr/>
        </p:nvSpPr>
        <p:spPr>
          <a:xfrm>
            <a:off x="465875" y="788650"/>
            <a:ext cx="45675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 graficamos la inercia para K=1 hasta K=10 en nuestro dataset de flores: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 1 a 2: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Caída gigante.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 2 a 3: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Caída notable.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 3 a 4: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curva se vuelve casi plana.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Conclusión: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"codo" está en 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K=3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Esto coincide perfectamente con la realidad (Sabemos que hay 3 especies de flores).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1" name="Google Shape;25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3220" y="1274225"/>
            <a:ext cx="4045249" cy="27356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1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57" name="Google Shape;257;p41"/>
          <p:cNvSpPr txBox="1"/>
          <p:nvPr>
            <p:ph type="ctrTitle"/>
          </p:nvPr>
        </p:nvSpPr>
        <p:spPr>
          <a:xfrm>
            <a:off x="465875" y="6084"/>
            <a:ext cx="83217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Resumen de la clase</a:t>
            </a:r>
            <a:endParaRPr sz="30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8" name="Google Shape;258;p41"/>
          <p:cNvSpPr txBox="1"/>
          <p:nvPr/>
        </p:nvSpPr>
        <p:spPr>
          <a:xfrm>
            <a:off x="465875" y="1112100"/>
            <a:ext cx="6596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-"/>
            </a:pPr>
            <a:r>
              <a:rPr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 el Aprendizaje No Supervisado?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-"/>
            </a:pPr>
            <a:r>
              <a:rPr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Modelos Principales (Clustering y Asociación)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-"/>
            </a:pPr>
            <a:r>
              <a:rPr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Caso Práctico: Evaluando K-Means (Dataset Iris)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-"/>
            </a:pPr>
            <a:r>
              <a:rPr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Visualización y Análisis de Resultados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Montserrat"/>
              <a:buChar char="-"/>
            </a:pPr>
            <a:r>
              <a:rPr lang="es-419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Método del Codo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ctrTitle"/>
          </p:nvPr>
        </p:nvSpPr>
        <p:spPr>
          <a:xfrm>
            <a:off x="660525" y="508300"/>
            <a:ext cx="7963800" cy="16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¿Consultas?</a:t>
            </a:r>
            <a:endParaRPr sz="34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type="ctrTitle"/>
          </p:nvPr>
        </p:nvSpPr>
        <p:spPr>
          <a:xfrm>
            <a:off x="660525" y="508300"/>
            <a:ext cx="7963800" cy="16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¡Muchas gracias!</a:t>
            </a:r>
            <a:endParaRPr sz="34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